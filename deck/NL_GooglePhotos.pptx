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Submission brief: increase the percentage of users who retrieve a remembered photo they cannot precisely describe at search start. This is a research-led prototype draft, not a final validated solution. All scenario text is synthetic, not participant testimony. Current product baseline: https://support.google.com/photos/answer/15318661?co=GENIE.Platform%3DAndroid&amp;hl=en. The 12 records are excerpts from five discussions, not 12 independent participants. Real interviews and deployment remain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operational definition to validate, not a historical baseline or a company metric already adopted. Eligible target must be known present so a missing image is not confused with retrieval failure. Users are counted once; task-level diagnostic rates are reported separately. N,C,V,O,S are explicitly nested counts; the identity is algebraic, not an assumption of independent events. Ground-truth relevance cannot be inferred from clicks alone. Retention and sharing are downstream hypotheses without measured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requires a public testable discovery workflow and a one-slide explanation. The implementation exists in app/ with deterministic import/deduplication, Gemini structured extraction and exact quote validation. The seed annotations are AI-assisted desk synthesis, not outputs from a live executed app run. Quote validation checks fidelity to imported text only, not source truth; human source review remains necessary. Classification does not establish prevalence or causality. Semantic deduplication, automated source scraping and model-driven prioritization are not implemented. Documentation: https://ai.google.dev/gemini-api/docs/structured-output. Public deployment must be completed and hyperlinked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is a convenience seed, not a representative sample, and counts are records not independent users. R02 and R03: https://www.reddit.com/r/googlephotos/comments/1fvq7hr/why_did_they_ruin_google_photos_search/. R05: https://www.reddit.com/r/GooglePixel/comments/1qbdo8i/google_photos_removing_search_and_replacing_it/. R09 and positive R10: https://news.ycombinator.com/item?id=44031190. R04 is positive counterevidence in S1. Source versions and individual comments may differ; reports do not establish current universal functionality. S5 is adjacent and not used to justify the proposed segment. Full exact excerpts, dates where available, source links and tentative interpretations are in research/evidence_seed.json. The recovery hypothesis has only limited desk support and must compete with indexing and recognition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interviews have been conducted for this package. The segment and proposed root cause are not findings or validated personas. The 2+ years criterion is a recruiting choice, not a prevalence claim. Conduct 5–6 target-segment interviews using the supplied script and blank templates; capture genuine remembered targets, uncertain clues, observed steps, correct photo availability and task outcomes. Consider competing explanations: target unavailable, retrieval coverage, recognition, formulation, navigation, or version/account differences. Replace this draft with evidence-supported segment selection, anonymized incidents and a justified problem statement. The detailed Part 4 text was cropped in the supplied images; verify the complete portal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mechanisms to test, not validated superior UX. Existing Ask Photos supports natural language, follow-up questions and similar-photo assistance: https://support.google.com/photos/answer/15318661?co=GENIE.Platform%3DAndroid&amp;hl=en. The claimed focus is explicit uncertainty, reversible exclusions and transparent recovery. The illustrated café is a synthetic fixture with seeded metadata. In real-image mode, event labels are manually supplied by users; automatic event grouping, EXIF extraction and full-library Google Photos integration are not implemented. No identity recognition or generation of missing photographs is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results are captured in docs/. All 22 deterministic/unit tests, 11 standalone browser checks and 7 local HTTP smoke checks passed. These are not user tests, a photographic accuracy benchmark, live Gemini validation or production hosting validation. Browser checks used embedded standalone HTML rather than a hosted origin. AI code uses a server-side provider key and schema-constrained output with app validation: https://ai.google.dev/gemini-api/docs/structured-output. Direct uploads avoid claiming unrestricted third-party access to Google Photos: https://developers.google.com/photos/overview/about. Real gallery limit: 32 selected images. Manual known metadata is optional; no inferred identities, dates or locations. Public deployment remains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intentionally contains a test plan, not fabricated test findings. Use the interview and usability CSV templates and protocol in research/RESEARCH_GUIDE.md. The application cannot provide an authentic baseline for Google Photos; observe that product separately. For mechanism isolation, keep an equivalent controlled corpus, use different matched tasks and counterbalance AB/BA to reduce learning. Record failures and target-absent tasks separately. The 2/3 and zero false-confirmation values are proposed formative gates, not powered statistical targets. Manual metadata setup is a material prototype limitation and must be disclosed. Replace this slide with genuine task outcomes and a documented iteration after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is user-level; task-level outcomes are diagnostic and must not silently change the denominator. Baselines and targets should reflect actual post-research scope. Failed/censored task times must be represented rather than reporting only a median of successes. Candidate relevance needs ground truth. The app automatically verifies only synthetic tasks with explicit target IDs; real-photo confirmations are unverified selections until an independent check. Zero incidents in a small pilot is not a population-level assurance. Retention, sharing and storage monetization are downstream hypotheses not measured in this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Submission requirements were read from the supplied screenshots. The detailed Part 4 content and any rules outside the photographed range require portal verification. Deck uses exactly 10 slides and has no fellow name. Editable slide fonts are at least 14 pt; PDF and PPTX are under 40 MB. Link supporting artifacts with reviewer access after hosting. Publish both the discovery workflow and MVP, test anonymous/reviewer access, and insert real hyperlinks rather than placeholder addresses. Hosting scaffold is provided but untested. Do not submit this draft as completed primary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5E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support.google.com/photos/answer/15318661?co=GENIE.Platform%3DAndroid&amp;hl=en"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reddit.com/r/googlephotos/comments/1fvq7hr/why_did_they_ruin_google_photos_search/" TargetMode="External"/><Relationship Id="rId2" Type="http://schemas.openxmlformats.org/officeDocument/2006/relationships/hyperlink" Target="https://news.ycombinator.com/item?id=44031190" TargetMode="External"/><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support.google.com/photos/answer/15318661?co=GENIE.Platform%3DAndroid&amp;hl=en"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evelopers.google.com/photos/overview/about" TargetMode="External"/><Relationship Id="rId2" Type="http://schemas.openxmlformats.org/officeDocument/2006/relationships/hyperlink" Target="https://ai.google.dev/gemini-api/docs/structured-output" TargetMode="Externa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GOOGLE PHOTOS / PARTIAL-MEMORY RETRIEVAL</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Vague memories need a recovery path—not another search box.</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MemoryTrail helps people keep clues, question guesses and explore nearby moments.</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a:hlinkClick r:id="rId1" tooltip=""/>
          </p:cNvPr>
          <p:cNvSpPr/>
          <p:nvPr/>
        </p:nvSpPr>
        <p:spPr>
          <a:xfrm>
            <a:off x="8321040" y="6473952"/>
            <a:ext cx="1124712" cy="201168"/>
          </a:xfrm>
          <a:prstGeom prst="rect">
            <a:avLst/>
          </a:prstGeom>
          <a:noFill/>
          <a:ln/>
        </p:spPr>
        <p:txBody>
          <a:bodyPr wrap="square" lIns="0" tIns="0" rIns="0" bIns="0" rtlCol="0" anchor="t"/>
          <a:lstStyle/>
          <a:p>
            <a:pPr indent="0" marL="0">
              <a:lnSpc>
                <a:spcPts val="1610"/>
              </a:lnSpc>
              <a:buNone/>
            </a:pPr>
            <a:r>
              <a:rPr lang="en-US" sz="1400" u="sng" dirty="0">
                <a:solidFill>
                  <a:srgbClr val="1F6556"/>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Ask Photos</a:t>
            </a:r>
            <a:endParaRPr lang="en-US" sz="1400" dirty="0"/>
          </a:p>
        </p:txBody>
      </p:sp>
      <p:sp>
        <p:nvSpPr>
          <p:cNvPr id="8" name="Text 6"/>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01 / 10</a:t>
            </a:r>
            <a:endParaRPr lang="en-US" sz="1400" dirty="0"/>
          </a:p>
        </p:txBody>
      </p:sp>
      <p:sp>
        <p:nvSpPr>
          <p:cNvPr id="9" name="Shape 7"/>
          <p:cNvSpPr/>
          <p:nvPr/>
        </p:nvSpPr>
        <p:spPr>
          <a:xfrm>
            <a:off x="548640" y="2304288"/>
            <a:ext cx="5513832" cy="3072384"/>
          </a:xfrm>
          <a:prstGeom prst="roundRect">
            <a:avLst>
              <a:gd name="adj" fmla="val 4464"/>
            </a:avLst>
          </a:prstGeom>
          <a:solidFill>
            <a:srgbClr val="173B36"/>
          </a:solidFill>
          <a:ln w="12700">
            <a:solidFill>
              <a:srgbClr val="173B36">
                <a:alpha val="0"/>
              </a:srgbClr>
            </a:solidFill>
            <a:prstDash val="solid"/>
          </a:ln>
        </p:spPr>
      </p:sp>
      <p:sp>
        <p:nvSpPr>
          <p:cNvPr id="10" name="Text 8"/>
          <p:cNvSpPr/>
          <p:nvPr/>
        </p:nvSpPr>
        <p:spPr>
          <a:xfrm>
            <a:off x="822960" y="2578608"/>
            <a:ext cx="4937760" cy="256032"/>
          </a:xfrm>
          <a:prstGeom prst="rect">
            <a:avLst/>
          </a:prstGeom>
          <a:noFill/>
          <a:ln/>
        </p:spPr>
        <p:txBody>
          <a:bodyPr wrap="square" lIns="0" tIns="0" rIns="0" bIns="0" rtlCol="0" anchor="t"/>
          <a:lstStyle/>
          <a:p>
            <a:pPr indent="0" marL="0">
              <a:lnSpc>
                <a:spcPts val="1610"/>
              </a:lnSpc>
              <a:buNone/>
            </a:pPr>
            <a:r>
              <a:rPr lang="en-US" sz="1400" b="1" dirty="0">
                <a:solidFill>
                  <a:srgbClr val="DDE8D8"/>
                </a:solidFill>
                <a:latin typeface="Noto Sans" pitchFamily="34" charset="0"/>
                <a:ea typeface="Noto Sans" pitchFamily="34" charset="-122"/>
                <a:cs typeface="Noto Sans" pitchFamily="34" charset="-120"/>
              </a:rPr>
              <a:t>THE USER’S JOB</a:t>
            </a:r>
            <a:endParaRPr lang="en-US" sz="1400" dirty="0"/>
          </a:p>
        </p:txBody>
      </p:sp>
      <p:sp>
        <p:nvSpPr>
          <p:cNvPr id="11" name="Text 9"/>
          <p:cNvSpPr/>
          <p:nvPr/>
        </p:nvSpPr>
        <p:spPr>
          <a:xfrm>
            <a:off x="822960" y="3090672"/>
            <a:ext cx="4736592" cy="1069848"/>
          </a:xfrm>
          <a:prstGeom prst="rect">
            <a:avLst/>
          </a:prstGeom>
          <a:noFill/>
          <a:ln/>
        </p:spPr>
        <p:txBody>
          <a:bodyPr wrap="square" lIns="0" tIns="0" rIns="0" bIns="0" rtlCol="0" anchor="t"/>
          <a:lstStyle/>
          <a:p>
            <a:pPr indent="0" marL="0">
              <a:lnSpc>
                <a:spcPts val="2875"/>
              </a:lnSpc>
              <a:buNone/>
            </a:pPr>
            <a:r>
              <a:rPr lang="en-US" sz="2500" b="1" dirty="0">
                <a:solidFill>
                  <a:srgbClr val="FFFFFF"/>
                </a:solidFill>
                <a:latin typeface="Noto Sans" pitchFamily="34" charset="0"/>
                <a:ea typeface="Noto Sans" pitchFamily="34" charset="-122"/>
                <a:cs typeface="Noto Sans" pitchFamily="34" charset="-120"/>
              </a:rPr>
              <a:t>“Find the café with blue chairs.</a:t>
            </a:r>
            <a:endParaRPr lang="en-US" sz="2500" dirty="0"/>
          </a:p>
          <a:p>
            <a:pPr indent="0" marL="0">
              <a:lnSpc>
                <a:spcPts val="2875"/>
              </a:lnSpc>
              <a:buNone/>
            </a:pPr>
            <a:r>
              <a:rPr lang="en-US" sz="2500" b="1" dirty="0">
                <a:solidFill>
                  <a:srgbClr val="FFFFFF"/>
                </a:solidFill>
                <a:latin typeface="Noto Sans" pitchFamily="34" charset="0"/>
                <a:ea typeface="Noto Sans" pitchFamily="34" charset="-122"/>
                <a:cs typeface="Noto Sans" pitchFamily="34" charset="-120"/>
              </a:rPr>
              <a:t>I think it was in Goa.”</a:t>
            </a:r>
            <a:endParaRPr lang="en-US" sz="2500" dirty="0"/>
          </a:p>
        </p:txBody>
      </p:sp>
      <p:sp>
        <p:nvSpPr>
          <p:cNvPr id="12" name="Shape 10"/>
          <p:cNvSpPr/>
          <p:nvPr/>
        </p:nvSpPr>
        <p:spPr>
          <a:xfrm>
            <a:off x="822960" y="4507992"/>
            <a:ext cx="2606040" cy="347472"/>
          </a:xfrm>
          <a:prstGeom prst="roundRect">
            <a:avLst>
              <a:gd name="adj" fmla="val 39474"/>
            </a:avLst>
          </a:prstGeom>
          <a:solidFill>
            <a:srgbClr val="E4EADC"/>
          </a:solidFill>
          <a:ln w="12700">
            <a:solidFill>
              <a:srgbClr val="E4EADC">
                <a:alpha val="0"/>
              </a:srgbClr>
            </a:solidFill>
            <a:prstDash val="solid"/>
          </a:ln>
        </p:spPr>
      </p:sp>
      <p:sp>
        <p:nvSpPr>
          <p:cNvPr id="13" name="Text 11"/>
          <p:cNvSpPr/>
          <p:nvPr/>
        </p:nvSpPr>
        <p:spPr>
          <a:xfrm>
            <a:off x="932688" y="4558284"/>
            <a:ext cx="2386584"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CERTAIN · blue chairs</a:t>
            </a:r>
            <a:endParaRPr lang="en-US" sz="1400" dirty="0"/>
          </a:p>
        </p:txBody>
      </p:sp>
      <p:sp>
        <p:nvSpPr>
          <p:cNvPr id="14" name="Shape 12"/>
          <p:cNvSpPr/>
          <p:nvPr/>
        </p:nvSpPr>
        <p:spPr>
          <a:xfrm>
            <a:off x="3584448" y="4507992"/>
            <a:ext cx="2048256" cy="347472"/>
          </a:xfrm>
          <a:prstGeom prst="roundRect">
            <a:avLst>
              <a:gd name="adj" fmla="val 39474"/>
            </a:avLst>
          </a:prstGeom>
          <a:solidFill>
            <a:srgbClr val="E7CD85"/>
          </a:solidFill>
          <a:ln w="12700">
            <a:solidFill>
              <a:srgbClr val="E7CD85">
                <a:alpha val="0"/>
              </a:srgbClr>
            </a:solidFill>
            <a:prstDash val="solid"/>
          </a:ln>
        </p:spPr>
      </p:sp>
      <p:sp>
        <p:nvSpPr>
          <p:cNvPr id="15" name="Text 13"/>
          <p:cNvSpPr/>
          <p:nvPr/>
        </p:nvSpPr>
        <p:spPr>
          <a:xfrm>
            <a:off x="3694176" y="4558284"/>
            <a:ext cx="1828800"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MAYBE · Goa</a:t>
            </a:r>
            <a:endParaRPr lang="en-US" sz="1400" dirty="0"/>
          </a:p>
        </p:txBody>
      </p:sp>
      <p:sp>
        <p:nvSpPr>
          <p:cNvPr id="16" name="Text 14"/>
          <p:cNvSpPr/>
          <p:nvPr/>
        </p:nvSpPr>
        <p:spPr>
          <a:xfrm>
            <a:off x="822960" y="5010912"/>
            <a:ext cx="4681728" cy="219456"/>
          </a:xfrm>
          <a:prstGeom prst="rect">
            <a:avLst/>
          </a:prstGeom>
          <a:noFill/>
          <a:ln/>
        </p:spPr>
        <p:txBody>
          <a:bodyPr wrap="square" lIns="0" tIns="0" rIns="0" bIns="0" rtlCol="0" anchor="t"/>
          <a:lstStyle/>
          <a:p>
            <a:pPr indent="0" marL="0">
              <a:lnSpc>
                <a:spcPts val="1610"/>
              </a:lnSpc>
              <a:buNone/>
            </a:pPr>
            <a:r>
              <a:rPr lang="en-US" sz="1400" dirty="0">
                <a:solidFill>
                  <a:srgbClr val="DDE8D8"/>
                </a:solidFill>
                <a:latin typeface="Noto Sans" pitchFamily="34" charset="0"/>
                <a:ea typeface="Noto Sans" pitchFamily="34" charset="-122"/>
                <a:cs typeface="Noto Sans" pitchFamily="34" charset="-120"/>
              </a:rPr>
              <a:t>Illustrative scenario—not an interview quote.</a:t>
            </a:r>
            <a:endParaRPr lang="en-US" sz="1400" dirty="0"/>
          </a:p>
        </p:txBody>
      </p:sp>
      <p:sp>
        <p:nvSpPr>
          <p:cNvPr id="17" name="Text 15"/>
          <p:cNvSpPr/>
          <p:nvPr/>
        </p:nvSpPr>
        <p:spPr>
          <a:xfrm>
            <a:off x="6510528" y="2395728"/>
            <a:ext cx="5074920" cy="402336"/>
          </a:xfrm>
          <a:prstGeom prst="rect">
            <a:avLst/>
          </a:prstGeom>
          <a:noFill/>
          <a:ln/>
        </p:spPr>
        <p:txBody>
          <a:bodyPr wrap="square" lIns="0" tIns="0" rIns="0" bIns="0" rtlCol="0" anchor="t"/>
          <a:lstStyle/>
          <a:p>
            <a:pPr indent="0" marL="0">
              <a:lnSpc>
                <a:spcPts val="2875"/>
              </a:lnSpc>
              <a:buNone/>
            </a:pPr>
            <a:r>
              <a:rPr lang="en-US" sz="2500" b="1" dirty="0">
                <a:solidFill>
                  <a:srgbClr val="173B36"/>
                </a:solidFill>
                <a:latin typeface="Noto Sans" pitchFamily="34" charset="0"/>
                <a:ea typeface="Noto Sans" pitchFamily="34" charset="-122"/>
                <a:cs typeface="Noto Sans" pitchFamily="34" charset="-120"/>
              </a:rPr>
              <a:t>The opportunity to test</a:t>
            </a:r>
            <a:endParaRPr lang="en-US" sz="2500" dirty="0"/>
          </a:p>
        </p:txBody>
      </p:sp>
      <p:sp>
        <p:nvSpPr>
          <p:cNvPr id="18" name="Text 16"/>
          <p:cNvSpPr/>
          <p:nvPr/>
        </p:nvSpPr>
        <p:spPr>
          <a:xfrm>
            <a:off x="6510528" y="2971800"/>
            <a:ext cx="4992624" cy="1024128"/>
          </a:xfrm>
          <a:prstGeom prst="rect">
            <a:avLst/>
          </a:prstGeom>
          <a:noFill/>
          <a:ln/>
        </p:spPr>
        <p:txBody>
          <a:bodyPr wrap="square" lIns="0" tIns="0" rIns="0" bIns="0" rtlCol="0" anchor="t"/>
          <a:lstStyle/>
          <a:p>
            <a:pPr indent="0" marL="0">
              <a:lnSpc>
                <a:spcPts val="2530"/>
              </a:lnSpc>
              <a:buNone/>
            </a:pPr>
            <a:r>
              <a:rPr lang="en-US" sz="2200" dirty="0">
                <a:solidFill>
                  <a:srgbClr val="334D47"/>
                </a:solidFill>
                <a:latin typeface="Noto Sans" pitchFamily="34" charset="0"/>
                <a:ea typeface="Noto Sans" pitchFamily="34" charset="-122"/>
                <a:cs typeface="Noto Sans" pitchFamily="34" charset="-120"/>
              </a:rPr>
              <a:t>Make uncertain clues visible and reversible, then let a near-match become a path to the target.</a:t>
            </a:r>
            <a:endParaRPr lang="en-US" sz="2200" dirty="0"/>
          </a:p>
        </p:txBody>
      </p:sp>
      <p:sp>
        <p:nvSpPr>
          <p:cNvPr id="19" name="Shape 17"/>
          <p:cNvSpPr/>
          <p:nvPr/>
        </p:nvSpPr>
        <p:spPr>
          <a:xfrm>
            <a:off x="6510528" y="4270248"/>
            <a:ext cx="5102352" cy="0"/>
          </a:xfrm>
          <a:prstGeom prst="line">
            <a:avLst/>
          </a:prstGeom>
          <a:noFill/>
          <a:ln w="12700">
            <a:solidFill>
              <a:srgbClr val="D6DED3"/>
            </a:solidFill>
            <a:prstDash val="solid"/>
          </a:ln>
        </p:spPr>
      </p:sp>
      <p:sp>
        <p:nvSpPr>
          <p:cNvPr id="20" name="Text 18"/>
          <p:cNvSpPr/>
          <p:nvPr/>
        </p:nvSpPr>
        <p:spPr>
          <a:xfrm>
            <a:off x="6510528" y="4517136"/>
            <a:ext cx="5029200" cy="393192"/>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The baseline is already conversational.</a:t>
            </a:r>
            <a:endParaRPr lang="en-US" sz="1900" dirty="0"/>
          </a:p>
        </p:txBody>
      </p:sp>
      <p:sp>
        <p:nvSpPr>
          <p:cNvPr id="21" name="Text 19"/>
          <p:cNvSpPr/>
          <p:nvPr/>
        </p:nvSpPr>
        <p:spPr>
          <a:xfrm>
            <a:off x="6510528" y="5001768"/>
            <a:ext cx="5029200" cy="676656"/>
          </a:xfrm>
          <a:prstGeom prst="rect">
            <a:avLst/>
          </a:prstGeom>
          <a:noFill/>
          <a:ln/>
        </p:spPr>
        <p:txBody>
          <a:bodyPr wrap="square" lIns="0" tIns="0" rIns="0" bIns="0" rtlCol="0" anchor="t"/>
          <a:lstStyle/>
          <a:p>
            <a:pPr indent="0" marL="0">
              <a:lnSpc>
                <a:spcPts val="1955"/>
              </a:lnSpc>
              <a:buNone/>
            </a:pPr>
            <a:r>
              <a:rPr lang="en-US" sz="1700" dirty="0">
                <a:solidFill>
                  <a:srgbClr val="334D47"/>
                </a:solidFill>
                <a:latin typeface="Noto Sans" pitchFamily="34" charset="0"/>
                <a:ea typeface="Noto Sans" pitchFamily="34" charset="-122"/>
                <a:cs typeface="Noto Sans" pitchFamily="34" charset="-120"/>
              </a:rPr>
              <a:t>Ask Photos has natural language and follow-ups. Test recovery—not chatbot novelty.</a:t>
            </a:r>
            <a:endParaRPr lang="en-US" sz="1700" dirty="0"/>
          </a:p>
        </p:txBody>
      </p:sp>
      <p:sp>
        <p:nvSpPr>
          <p:cNvPr id="22" name="Shape 20"/>
          <p:cNvSpPr/>
          <p:nvPr/>
        </p:nvSpPr>
        <p:spPr>
          <a:xfrm>
            <a:off x="548640" y="5742432"/>
            <a:ext cx="3017520" cy="347472"/>
          </a:xfrm>
          <a:prstGeom prst="roundRect">
            <a:avLst>
              <a:gd name="adj" fmla="val 39474"/>
            </a:avLst>
          </a:prstGeom>
          <a:solidFill>
            <a:srgbClr val="E4EADC"/>
          </a:solidFill>
          <a:ln w="12700">
            <a:solidFill>
              <a:srgbClr val="E4EADC">
                <a:alpha val="0"/>
              </a:srgbClr>
            </a:solidFill>
            <a:prstDash val="solid"/>
          </a:ln>
        </p:spPr>
      </p:sp>
      <p:sp>
        <p:nvSpPr>
          <p:cNvPr id="23" name="Text 21"/>
          <p:cNvSpPr/>
          <p:nvPr/>
        </p:nvSpPr>
        <p:spPr>
          <a:xfrm>
            <a:off x="658368" y="5792724"/>
            <a:ext cx="2798064"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12 public excerpt records</a:t>
            </a:r>
            <a:endParaRPr lang="en-US" sz="1400" dirty="0"/>
          </a:p>
        </p:txBody>
      </p:sp>
      <p:sp>
        <p:nvSpPr>
          <p:cNvPr id="24" name="Shape 22"/>
          <p:cNvSpPr/>
          <p:nvPr/>
        </p:nvSpPr>
        <p:spPr>
          <a:xfrm>
            <a:off x="3703320" y="5742432"/>
            <a:ext cx="3328416" cy="347472"/>
          </a:xfrm>
          <a:prstGeom prst="roundRect">
            <a:avLst>
              <a:gd name="adj" fmla="val 39474"/>
            </a:avLst>
          </a:prstGeom>
          <a:solidFill>
            <a:srgbClr val="F4EBCF"/>
          </a:solidFill>
          <a:ln w="12700">
            <a:solidFill>
              <a:srgbClr val="F4EBCF">
                <a:alpha val="0"/>
              </a:srgbClr>
            </a:solidFill>
            <a:prstDash val="solid"/>
          </a:ln>
        </p:spPr>
      </p:sp>
      <p:sp>
        <p:nvSpPr>
          <p:cNvPr id="25" name="Text 23"/>
          <p:cNvSpPr/>
          <p:nvPr/>
        </p:nvSpPr>
        <p:spPr>
          <a:xfrm>
            <a:off x="3813048" y="5792724"/>
            <a:ext cx="3108960"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0 user interviews completed</a:t>
            </a:r>
            <a:endParaRPr lang="en-US" sz="1400" dirty="0"/>
          </a:p>
        </p:txBody>
      </p:sp>
      <p:sp>
        <p:nvSpPr>
          <p:cNvPr id="26" name="Shape 24"/>
          <p:cNvSpPr/>
          <p:nvPr/>
        </p:nvSpPr>
        <p:spPr>
          <a:xfrm>
            <a:off x="7168896" y="5742432"/>
            <a:ext cx="3227832" cy="347472"/>
          </a:xfrm>
          <a:prstGeom prst="roundRect">
            <a:avLst>
              <a:gd name="adj" fmla="val 39474"/>
            </a:avLst>
          </a:prstGeom>
          <a:solidFill>
            <a:srgbClr val="F4EBCF"/>
          </a:solidFill>
          <a:ln w="12700">
            <a:solidFill>
              <a:srgbClr val="F4EBCF">
                <a:alpha val="0"/>
              </a:srgbClr>
            </a:solidFill>
            <a:prstDash val="solid"/>
          </a:ln>
        </p:spPr>
      </p:sp>
      <p:sp>
        <p:nvSpPr>
          <p:cNvPr id="27" name="Text 25"/>
          <p:cNvSpPr/>
          <p:nvPr/>
        </p:nvSpPr>
        <p:spPr>
          <a:xfrm>
            <a:off x="7278624" y="5792724"/>
            <a:ext cx="3008376"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Public deployment pending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METRIC DECOMPOSITION</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Successful retrieval is a funnel, not a search-count metric.</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North star: verified retrieval users / eligible users attempting a partial-memory retrieval.</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02 / 10</a:t>
            </a:r>
            <a:endParaRPr lang="en-US" sz="1400" dirty="0"/>
          </a:p>
        </p:txBody>
      </p:sp>
      <p:sp>
        <p:nvSpPr>
          <p:cNvPr id="8" name="Shape 6"/>
          <p:cNvSpPr/>
          <p:nvPr/>
        </p:nvSpPr>
        <p:spPr>
          <a:xfrm>
            <a:off x="548640" y="2350008"/>
            <a:ext cx="2029968" cy="2377440"/>
          </a:xfrm>
          <a:prstGeom prst="roundRect">
            <a:avLst>
              <a:gd name="adj" fmla="val 6757"/>
            </a:avLst>
          </a:prstGeom>
          <a:solidFill>
            <a:srgbClr val="FFFFFF"/>
          </a:solidFill>
          <a:ln w="12700">
            <a:solidFill>
              <a:srgbClr val="FFFFFF">
                <a:alpha val="0"/>
              </a:srgbClr>
            </a:solidFill>
            <a:prstDash val="solid"/>
          </a:ln>
        </p:spPr>
      </p:sp>
      <p:sp>
        <p:nvSpPr>
          <p:cNvPr id="9" name="Text 7"/>
          <p:cNvSpPr/>
          <p:nvPr/>
        </p:nvSpPr>
        <p:spPr>
          <a:xfrm>
            <a:off x="713232" y="2578608"/>
            <a:ext cx="1700784"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N · START</a:t>
            </a:r>
            <a:endParaRPr lang="en-US" sz="1400" dirty="0"/>
          </a:p>
        </p:txBody>
      </p:sp>
      <p:sp>
        <p:nvSpPr>
          <p:cNvPr id="10" name="Text 8"/>
          <p:cNvSpPr/>
          <p:nvPr/>
        </p:nvSpPr>
        <p:spPr>
          <a:xfrm>
            <a:off x="713232" y="3026664"/>
            <a:ext cx="1700784" cy="667512"/>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Eligible attempt</a:t>
            </a:r>
            <a:endParaRPr lang="en-US" sz="1900" dirty="0"/>
          </a:p>
        </p:txBody>
      </p:sp>
      <p:sp>
        <p:nvSpPr>
          <p:cNvPr id="11" name="Text 9"/>
          <p:cNvSpPr/>
          <p:nvPr/>
        </p:nvSpPr>
        <p:spPr>
          <a:xfrm>
            <a:off x="713232" y="3794760"/>
            <a:ext cx="1700784"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A remembered target is known to be in the collection.</a:t>
            </a:r>
            <a:endParaRPr lang="en-US" sz="1500" dirty="0"/>
          </a:p>
        </p:txBody>
      </p:sp>
      <p:sp>
        <p:nvSpPr>
          <p:cNvPr id="12" name="Shape 10"/>
          <p:cNvSpPr/>
          <p:nvPr/>
        </p:nvSpPr>
        <p:spPr>
          <a:xfrm>
            <a:off x="2816352" y="2350008"/>
            <a:ext cx="2029968" cy="2377440"/>
          </a:xfrm>
          <a:prstGeom prst="roundRect">
            <a:avLst>
              <a:gd name="adj" fmla="val 6757"/>
            </a:avLst>
          </a:prstGeom>
          <a:solidFill>
            <a:srgbClr val="FFFFFF"/>
          </a:solidFill>
          <a:ln w="12700">
            <a:solidFill>
              <a:srgbClr val="FFFFFF">
                <a:alpha val="0"/>
              </a:srgbClr>
            </a:solidFill>
            <a:prstDash val="solid"/>
          </a:ln>
        </p:spPr>
      </p:sp>
      <p:sp>
        <p:nvSpPr>
          <p:cNvPr id="13" name="Text 11"/>
          <p:cNvSpPr/>
          <p:nvPr/>
        </p:nvSpPr>
        <p:spPr>
          <a:xfrm>
            <a:off x="2980944" y="2578608"/>
            <a:ext cx="1700784"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C · CLUES</a:t>
            </a:r>
            <a:endParaRPr lang="en-US" sz="1400" dirty="0"/>
          </a:p>
        </p:txBody>
      </p:sp>
      <p:sp>
        <p:nvSpPr>
          <p:cNvPr id="14" name="Text 12"/>
          <p:cNvSpPr/>
          <p:nvPr/>
        </p:nvSpPr>
        <p:spPr>
          <a:xfrm>
            <a:off x="2980944" y="3026664"/>
            <a:ext cx="1700784" cy="667512"/>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Usable clues</a:t>
            </a:r>
            <a:endParaRPr lang="en-US" sz="1900" dirty="0"/>
          </a:p>
        </p:txBody>
      </p:sp>
      <p:sp>
        <p:nvSpPr>
          <p:cNvPr id="15" name="Text 13"/>
          <p:cNvSpPr/>
          <p:nvPr/>
        </p:nvSpPr>
        <p:spPr>
          <a:xfrm>
            <a:off x="2980944" y="3794760"/>
            <a:ext cx="1700784"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The user supplies or selects usable memory clues.</a:t>
            </a:r>
            <a:endParaRPr lang="en-US" sz="1500" dirty="0"/>
          </a:p>
        </p:txBody>
      </p:sp>
      <p:sp>
        <p:nvSpPr>
          <p:cNvPr id="16" name="Shape 14"/>
          <p:cNvSpPr/>
          <p:nvPr/>
        </p:nvSpPr>
        <p:spPr>
          <a:xfrm>
            <a:off x="5084064" y="2350008"/>
            <a:ext cx="2029968" cy="2377440"/>
          </a:xfrm>
          <a:prstGeom prst="roundRect">
            <a:avLst>
              <a:gd name="adj" fmla="val 6757"/>
            </a:avLst>
          </a:prstGeom>
          <a:solidFill>
            <a:srgbClr val="FFFFFF"/>
          </a:solidFill>
          <a:ln w="12700">
            <a:solidFill>
              <a:srgbClr val="FFFFFF">
                <a:alpha val="0"/>
              </a:srgbClr>
            </a:solidFill>
            <a:prstDash val="solid"/>
          </a:ln>
        </p:spPr>
      </p:sp>
      <p:sp>
        <p:nvSpPr>
          <p:cNvPr id="17" name="Text 15"/>
          <p:cNvSpPr/>
          <p:nvPr/>
        </p:nvSpPr>
        <p:spPr>
          <a:xfrm>
            <a:off x="5248656" y="2578608"/>
            <a:ext cx="1700784"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V · CANDIDATE</a:t>
            </a:r>
            <a:endParaRPr lang="en-US" sz="1400" dirty="0"/>
          </a:p>
        </p:txBody>
      </p:sp>
      <p:sp>
        <p:nvSpPr>
          <p:cNvPr id="18" name="Text 16"/>
          <p:cNvSpPr/>
          <p:nvPr/>
        </p:nvSpPr>
        <p:spPr>
          <a:xfrm>
            <a:off x="5248656" y="3026664"/>
            <a:ext cx="1700784" cy="667512"/>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Relevant photo seen</a:t>
            </a:r>
            <a:endParaRPr lang="en-US" sz="1900" dirty="0"/>
          </a:p>
        </p:txBody>
      </p:sp>
      <p:sp>
        <p:nvSpPr>
          <p:cNvPr id="19" name="Text 17"/>
          <p:cNvSpPr/>
          <p:nvPr/>
        </p:nvSpPr>
        <p:spPr>
          <a:xfrm>
            <a:off x="5248656" y="3794760"/>
            <a:ext cx="1700784"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Ground truth confirms a relevant candidate was displayed.</a:t>
            </a:r>
            <a:endParaRPr lang="en-US" sz="1500" dirty="0"/>
          </a:p>
        </p:txBody>
      </p:sp>
      <p:sp>
        <p:nvSpPr>
          <p:cNvPr id="20" name="Shape 18"/>
          <p:cNvSpPr/>
          <p:nvPr/>
        </p:nvSpPr>
        <p:spPr>
          <a:xfrm>
            <a:off x="7351776" y="2350008"/>
            <a:ext cx="2029968" cy="2377440"/>
          </a:xfrm>
          <a:prstGeom prst="roundRect">
            <a:avLst>
              <a:gd name="adj" fmla="val 6757"/>
            </a:avLst>
          </a:prstGeom>
          <a:solidFill>
            <a:srgbClr val="FFFFFF"/>
          </a:solidFill>
          <a:ln w="12700">
            <a:solidFill>
              <a:srgbClr val="FFFFFF">
                <a:alpha val="0"/>
              </a:srgbClr>
            </a:solidFill>
            <a:prstDash val="solid"/>
          </a:ln>
        </p:spPr>
      </p:sp>
      <p:sp>
        <p:nvSpPr>
          <p:cNvPr id="21" name="Text 19"/>
          <p:cNvSpPr/>
          <p:nvPr/>
        </p:nvSpPr>
        <p:spPr>
          <a:xfrm>
            <a:off x="7516368" y="2578608"/>
            <a:ext cx="1700784"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O · OPEN</a:t>
            </a:r>
            <a:endParaRPr lang="en-US" sz="1400" dirty="0"/>
          </a:p>
        </p:txBody>
      </p:sp>
      <p:sp>
        <p:nvSpPr>
          <p:cNvPr id="22" name="Text 20"/>
          <p:cNvSpPr/>
          <p:nvPr/>
        </p:nvSpPr>
        <p:spPr>
          <a:xfrm>
            <a:off x="7516368" y="3026664"/>
            <a:ext cx="1700784" cy="667512"/>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Target opened</a:t>
            </a:r>
            <a:endParaRPr lang="en-US" sz="1900" dirty="0"/>
          </a:p>
        </p:txBody>
      </p:sp>
      <p:sp>
        <p:nvSpPr>
          <p:cNvPr id="23" name="Text 21"/>
          <p:cNvSpPr/>
          <p:nvPr/>
        </p:nvSpPr>
        <p:spPr>
          <a:xfrm>
            <a:off x="7516368" y="3794760"/>
            <a:ext cx="1700784"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The intended photo is opened—not merely any result.</a:t>
            </a:r>
            <a:endParaRPr lang="en-US" sz="1500" dirty="0"/>
          </a:p>
        </p:txBody>
      </p:sp>
      <p:sp>
        <p:nvSpPr>
          <p:cNvPr id="24" name="Shape 22"/>
          <p:cNvSpPr/>
          <p:nvPr/>
        </p:nvSpPr>
        <p:spPr>
          <a:xfrm>
            <a:off x="9619488" y="2350008"/>
            <a:ext cx="2029968" cy="2377440"/>
          </a:xfrm>
          <a:prstGeom prst="roundRect">
            <a:avLst>
              <a:gd name="adj" fmla="val 6757"/>
            </a:avLst>
          </a:prstGeom>
          <a:solidFill>
            <a:srgbClr val="173B36"/>
          </a:solidFill>
          <a:ln w="12700">
            <a:solidFill>
              <a:srgbClr val="173B36">
                <a:alpha val="0"/>
              </a:srgbClr>
            </a:solidFill>
            <a:prstDash val="solid"/>
          </a:ln>
        </p:spPr>
      </p:sp>
      <p:sp>
        <p:nvSpPr>
          <p:cNvPr id="25" name="Text 23"/>
          <p:cNvSpPr/>
          <p:nvPr/>
        </p:nvSpPr>
        <p:spPr>
          <a:xfrm>
            <a:off x="9784080" y="2578608"/>
            <a:ext cx="1700784" cy="256032"/>
          </a:xfrm>
          <a:prstGeom prst="rect">
            <a:avLst/>
          </a:prstGeom>
          <a:noFill/>
          <a:ln/>
        </p:spPr>
        <p:txBody>
          <a:bodyPr wrap="square" lIns="0" tIns="0" rIns="0" bIns="0" rtlCol="0" anchor="t"/>
          <a:lstStyle/>
          <a:p>
            <a:pPr indent="0" marL="0">
              <a:lnSpc>
                <a:spcPts val="1610"/>
              </a:lnSpc>
              <a:buNone/>
            </a:pPr>
            <a:r>
              <a:rPr lang="en-US" sz="1400" b="1" dirty="0">
                <a:solidFill>
                  <a:srgbClr val="DDE8D8"/>
                </a:solidFill>
                <a:latin typeface="Noto Sans" pitchFamily="34" charset="0"/>
                <a:ea typeface="Noto Sans" pitchFamily="34" charset="-122"/>
                <a:cs typeface="Noto Sans" pitchFamily="34" charset="-120"/>
              </a:rPr>
              <a:t>S · VERIFIED</a:t>
            </a:r>
            <a:endParaRPr lang="en-US" sz="1400" dirty="0"/>
          </a:p>
        </p:txBody>
      </p:sp>
      <p:sp>
        <p:nvSpPr>
          <p:cNvPr id="26" name="Text 24"/>
          <p:cNvSpPr/>
          <p:nvPr/>
        </p:nvSpPr>
        <p:spPr>
          <a:xfrm>
            <a:off x="9784080" y="3026664"/>
            <a:ext cx="1700784" cy="667512"/>
          </a:xfrm>
          <a:prstGeom prst="rect">
            <a:avLst/>
          </a:prstGeom>
          <a:noFill/>
          <a:ln/>
        </p:spPr>
        <p:txBody>
          <a:bodyPr wrap="square" lIns="0" tIns="0" rIns="0" bIns="0" rtlCol="0" anchor="t"/>
          <a:lstStyle/>
          <a:p>
            <a:pPr indent="0" marL="0">
              <a:lnSpc>
                <a:spcPts val="2185"/>
              </a:lnSpc>
              <a:buNone/>
            </a:pPr>
            <a:r>
              <a:rPr lang="en-US" sz="1900" b="1" dirty="0">
                <a:solidFill>
                  <a:srgbClr val="FFFFFF"/>
                </a:solidFill>
                <a:latin typeface="Noto Sans" pitchFamily="34" charset="0"/>
                <a:ea typeface="Noto Sans" pitchFamily="34" charset="-122"/>
                <a:cs typeface="Noto Sans" pitchFamily="34" charset="-120"/>
              </a:rPr>
              <a:t>Correct retrieval</a:t>
            </a:r>
            <a:endParaRPr lang="en-US" sz="1900" dirty="0"/>
          </a:p>
        </p:txBody>
      </p:sp>
      <p:sp>
        <p:nvSpPr>
          <p:cNvPr id="27" name="Text 25"/>
          <p:cNvSpPr/>
          <p:nvPr/>
        </p:nvSpPr>
        <p:spPr>
          <a:xfrm>
            <a:off x="9784080" y="3794760"/>
            <a:ext cx="1700784" cy="758952"/>
          </a:xfrm>
          <a:prstGeom prst="rect">
            <a:avLst/>
          </a:prstGeom>
          <a:noFill/>
          <a:ln/>
        </p:spPr>
        <p:txBody>
          <a:bodyPr wrap="square" lIns="0" tIns="0" rIns="0" bIns="0" rtlCol="0" anchor="t"/>
          <a:lstStyle/>
          <a:p>
            <a:pPr indent="0" marL="0">
              <a:lnSpc>
                <a:spcPts val="1725"/>
              </a:lnSpc>
              <a:buNone/>
            </a:pPr>
            <a:r>
              <a:rPr lang="en-US" sz="1500" dirty="0">
                <a:solidFill>
                  <a:srgbClr val="DDE8D8"/>
                </a:solidFill>
                <a:latin typeface="Noto Sans" pitchFamily="34" charset="0"/>
                <a:ea typeface="Noto Sans" pitchFamily="34" charset="-122"/>
                <a:cs typeface="Noto Sans" pitchFamily="34" charset="-120"/>
              </a:rPr>
              <a:t>The intended target is confirmed within the task window.</a:t>
            </a:r>
            <a:endParaRPr lang="en-US" sz="1500" dirty="0"/>
          </a:p>
        </p:txBody>
      </p:sp>
      <p:sp>
        <p:nvSpPr>
          <p:cNvPr id="28" name="Text 26"/>
          <p:cNvSpPr/>
          <p:nvPr/>
        </p:nvSpPr>
        <p:spPr>
          <a:xfrm>
            <a:off x="685800" y="5038344"/>
            <a:ext cx="10817352" cy="448056"/>
          </a:xfrm>
          <a:prstGeom prst="rect">
            <a:avLst/>
          </a:prstGeom>
          <a:noFill/>
          <a:ln/>
        </p:spPr>
        <p:txBody>
          <a:bodyPr wrap="square" lIns="0" tIns="0" rIns="0" bIns="0" rtlCol="0" anchor="t"/>
          <a:lstStyle/>
          <a:p>
            <a:pPr algn="ctr" indent="0" marL="0">
              <a:lnSpc>
                <a:spcPts val="2875"/>
              </a:lnSpc>
              <a:buNone/>
            </a:pPr>
            <a:r>
              <a:rPr lang="en-US" sz="2500" b="1" dirty="0">
                <a:solidFill>
                  <a:srgbClr val="173B36"/>
                </a:solidFill>
                <a:latin typeface="Noto Sans" pitchFamily="34" charset="0"/>
                <a:ea typeface="Noto Sans" pitchFamily="34" charset="-122"/>
                <a:cs typeface="Noto Sans" pitchFamily="34" charset="-120"/>
              </a:rPr>
              <a:t>S / N  =  (C / N) × (V / C) × (O / V) × (S / O)</a:t>
            </a:r>
            <a:endParaRPr lang="en-US" sz="2500" dirty="0"/>
          </a:p>
        </p:txBody>
      </p:sp>
      <p:sp>
        <p:nvSpPr>
          <p:cNvPr id="29" name="Text 27"/>
          <p:cNvSpPr/>
          <p:nvPr/>
        </p:nvSpPr>
        <p:spPr>
          <a:xfrm>
            <a:off x="685800" y="5623560"/>
            <a:ext cx="10789920" cy="502920"/>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Count each eligible user once on their first standardized task in a 7-day window. Proposed task limit: 120 seconds. Events are nested; zero-denominator rates are undefined.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AI-POWERED DISCOVERY ENGINE</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A repeatable workflow separates reported experiences from hypotheses.</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Evidence Lab checks source-linked reports and keeps human review visible.</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03 / 10</a:t>
            </a:r>
            <a:endParaRPr lang="en-US" sz="1400" dirty="0"/>
          </a:p>
        </p:txBody>
      </p:sp>
      <p:sp>
        <p:nvSpPr>
          <p:cNvPr id="8" name="Shape 6"/>
          <p:cNvSpPr/>
          <p:nvPr/>
        </p:nvSpPr>
        <p:spPr>
          <a:xfrm>
            <a:off x="548640" y="2423160"/>
            <a:ext cx="2029968" cy="2404872"/>
          </a:xfrm>
          <a:prstGeom prst="roundRect">
            <a:avLst>
              <a:gd name="adj" fmla="val 6757"/>
            </a:avLst>
          </a:prstGeom>
          <a:solidFill>
            <a:srgbClr val="FFFFFF"/>
          </a:solidFill>
          <a:ln w="12700">
            <a:solidFill>
              <a:srgbClr val="FFFFFF">
                <a:alpha val="0"/>
              </a:srgbClr>
            </a:solidFill>
            <a:prstDash val="solid"/>
          </a:ln>
        </p:spPr>
      </p:sp>
      <p:sp>
        <p:nvSpPr>
          <p:cNvPr id="9" name="Text 7"/>
          <p:cNvSpPr/>
          <p:nvPr/>
        </p:nvSpPr>
        <p:spPr>
          <a:xfrm>
            <a:off x="731520" y="2642616"/>
            <a:ext cx="1673352" cy="347472"/>
          </a:xfrm>
          <a:prstGeom prst="rect">
            <a:avLst/>
          </a:prstGeom>
          <a:noFill/>
          <a:ln/>
        </p:spPr>
        <p:txBody>
          <a:bodyPr wrap="square" lIns="0" tIns="0" rIns="0" bIns="0" rtlCol="0" anchor="t"/>
          <a:lstStyle/>
          <a:p>
            <a:pPr indent="0" marL="0">
              <a:lnSpc>
                <a:spcPts val="2645"/>
              </a:lnSpc>
              <a:buNone/>
            </a:pPr>
            <a:r>
              <a:rPr lang="en-US" sz="2300" b="1" dirty="0">
                <a:solidFill>
                  <a:srgbClr val="1F6556"/>
                </a:solidFill>
                <a:latin typeface="Noto Sans" pitchFamily="34" charset="0"/>
                <a:ea typeface="Noto Sans" pitchFamily="34" charset="-122"/>
                <a:cs typeface="Noto Sans" pitchFamily="34" charset="-120"/>
              </a:rPr>
              <a:t>01</a:t>
            </a:r>
            <a:endParaRPr lang="en-US" sz="2300" dirty="0"/>
          </a:p>
        </p:txBody>
      </p:sp>
      <p:sp>
        <p:nvSpPr>
          <p:cNvPr id="10" name="Text 8"/>
          <p:cNvSpPr/>
          <p:nvPr/>
        </p:nvSpPr>
        <p:spPr>
          <a:xfrm>
            <a:off x="731520" y="3172968"/>
            <a:ext cx="1673352" cy="612648"/>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Import &amp; deduplicate</a:t>
            </a:r>
            <a:endParaRPr lang="en-US" sz="1900" dirty="0"/>
          </a:p>
        </p:txBody>
      </p:sp>
      <p:sp>
        <p:nvSpPr>
          <p:cNvPr id="11" name="Text 9"/>
          <p:cNvSpPr/>
          <p:nvPr/>
        </p:nvSpPr>
        <p:spPr>
          <a:xfrm>
            <a:off x="731520" y="3867912"/>
            <a:ext cx="1673352"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Source URL + exact text.</a:t>
            </a:r>
            <a:endParaRPr lang="en-US" sz="1500" dirty="0"/>
          </a:p>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Up to 500 records.</a:t>
            </a:r>
            <a:endParaRPr lang="en-US" sz="1500" dirty="0"/>
          </a:p>
        </p:txBody>
      </p:sp>
      <p:sp>
        <p:nvSpPr>
          <p:cNvPr id="12" name="Shape 10"/>
          <p:cNvSpPr/>
          <p:nvPr/>
        </p:nvSpPr>
        <p:spPr>
          <a:xfrm>
            <a:off x="2816352" y="2423160"/>
            <a:ext cx="2029968" cy="2404872"/>
          </a:xfrm>
          <a:prstGeom prst="roundRect">
            <a:avLst>
              <a:gd name="adj" fmla="val 6757"/>
            </a:avLst>
          </a:prstGeom>
          <a:solidFill>
            <a:srgbClr val="173B36"/>
          </a:solidFill>
          <a:ln w="12700">
            <a:solidFill>
              <a:srgbClr val="173B36">
                <a:alpha val="0"/>
              </a:srgbClr>
            </a:solidFill>
            <a:prstDash val="solid"/>
          </a:ln>
        </p:spPr>
      </p:sp>
      <p:sp>
        <p:nvSpPr>
          <p:cNvPr id="13" name="Text 11"/>
          <p:cNvSpPr/>
          <p:nvPr/>
        </p:nvSpPr>
        <p:spPr>
          <a:xfrm>
            <a:off x="2999232" y="2642616"/>
            <a:ext cx="1673352" cy="347472"/>
          </a:xfrm>
          <a:prstGeom prst="rect">
            <a:avLst/>
          </a:prstGeom>
          <a:noFill/>
          <a:ln/>
        </p:spPr>
        <p:txBody>
          <a:bodyPr wrap="square" lIns="0" tIns="0" rIns="0" bIns="0" rtlCol="0" anchor="t"/>
          <a:lstStyle/>
          <a:p>
            <a:pPr indent="0" marL="0">
              <a:lnSpc>
                <a:spcPts val="2645"/>
              </a:lnSpc>
              <a:buNone/>
            </a:pPr>
            <a:r>
              <a:rPr lang="en-US" sz="2300" b="1" dirty="0">
                <a:solidFill>
                  <a:srgbClr val="E7CD85"/>
                </a:solidFill>
                <a:latin typeface="Noto Sans" pitchFamily="34" charset="0"/>
                <a:ea typeface="Noto Sans" pitchFamily="34" charset="-122"/>
                <a:cs typeface="Noto Sans" pitchFamily="34" charset="-120"/>
              </a:rPr>
              <a:t>02</a:t>
            </a:r>
            <a:endParaRPr lang="en-US" sz="2300" dirty="0"/>
          </a:p>
        </p:txBody>
      </p:sp>
      <p:sp>
        <p:nvSpPr>
          <p:cNvPr id="14" name="Text 12"/>
          <p:cNvSpPr/>
          <p:nvPr/>
        </p:nvSpPr>
        <p:spPr>
          <a:xfrm>
            <a:off x="2999232" y="3172968"/>
            <a:ext cx="1673352" cy="612648"/>
          </a:xfrm>
          <a:prstGeom prst="rect">
            <a:avLst/>
          </a:prstGeom>
          <a:noFill/>
          <a:ln/>
        </p:spPr>
        <p:txBody>
          <a:bodyPr wrap="square" lIns="0" tIns="0" rIns="0" bIns="0" rtlCol="0" anchor="t"/>
          <a:lstStyle/>
          <a:p>
            <a:pPr indent="0" marL="0">
              <a:lnSpc>
                <a:spcPts val="2185"/>
              </a:lnSpc>
              <a:buNone/>
            </a:pPr>
            <a:r>
              <a:rPr lang="en-US" sz="1900" b="1" dirty="0">
                <a:solidFill>
                  <a:srgbClr val="FFFFFF"/>
                </a:solidFill>
                <a:latin typeface="Noto Sans" pitchFamily="34" charset="0"/>
                <a:ea typeface="Noto Sans" pitchFamily="34" charset="-122"/>
                <a:cs typeface="Noto Sans" pitchFamily="34" charset="-120"/>
              </a:rPr>
              <a:t>Extract with AI</a:t>
            </a:r>
            <a:endParaRPr lang="en-US" sz="1900" dirty="0"/>
          </a:p>
        </p:txBody>
      </p:sp>
      <p:sp>
        <p:nvSpPr>
          <p:cNvPr id="15" name="Text 13"/>
          <p:cNvSpPr/>
          <p:nvPr/>
        </p:nvSpPr>
        <p:spPr>
          <a:xfrm>
            <a:off x="2999232" y="3867912"/>
            <a:ext cx="1673352" cy="758952"/>
          </a:xfrm>
          <a:prstGeom prst="rect">
            <a:avLst/>
          </a:prstGeom>
          <a:noFill/>
          <a:ln/>
        </p:spPr>
        <p:txBody>
          <a:bodyPr wrap="square" lIns="0" tIns="0" rIns="0" bIns="0" rtlCol="0" anchor="t"/>
          <a:lstStyle/>
          <a:p>
            <a:pPr indent="0" marL="0">
              <a:lnSpc>
                <a:spcPts val="1725"/>
              </a:lnSpc>
              <a:buNone/>
            </a:pPr>
            <a:r>
              <a:rPr lang="en-US" sz="1500" dirty="0">
                <a:solidFill>
                  <a:srgbClr val="DDE8D8"/>
                </a:solidFill>
                <a:latin typeface="Noto Sans" pitchFamily="34" charset="0"/>
                <a:ea typeface="Noto Sans" pitchFamily="34" charset="-122"/>
                <a:cs typeface="Noto Sans" pitchFamily="34" charset="-120"/>
              </a:rPr>
              <a:t>AI returns a stage, exact quote and interpretation.</a:t>
            </a:r>
            <a:endParaRPr lang="en-US" sz="1500" dirty="0"/>
          </a:p>
        </p:txBody>
      </p:sp>
      <p:sp>
        <p:nvSpPr>
          <p:cNvPr id="16" name="Shape 14"/>
          <p:cNvSpPr/>
          <p:nvPr/>
        </p:nvSpPr>
        <p:spPr>
          <a:xfrm>
            <a:off x="5084064" y="2423160"/>
            <a:ext cx="2029968" cy="2404872"/>
          </a:xfrm>
          <a:prstGeom prst="roundRect">
            <a:avLst>
              <a:gd name="adj" fmla="val 6757"/>
            </a:avLst>
          </a:prstGeom>
          <a:solidFill>
            <a:srgbClr val="FFFFFF"/>
          </a:solidFill>
          <a:ln w="12700">
            <a:solidFill>
              <a:srgbClr val="FFFFFF">
                <a:alpha val="0"/>
              </a:srgbClr>
            </a:solidFill>
            <a:prstDash val="solid"/>
          </a:ln>
        </p:spPr>
      </p:sp>
      <p:sp>
        <p:nvSpPr>
          <p:cNvPr id="17" name="Text 15"/>
          <p:cNvSpPr/>
          <p:nvPr/>
        </p:nvSpPr>
        <p:spPr>
          <a:xfrm>
            <a:off x="5266944" y="2642616"/>
            <a:ext cx="1673352" cy="347472"/>
          </a:xfrm>
          <a:prstGeom prst="rect">
            <a:avLst/>
          </a:prstGeom>
          <a:noFill/>
          <a:ln/>
        </p:spPr>
        <p:txBody>
          <a:bodyPr wrap="square" lIns="0" tIns="0" rIns="0" bIns="0" rtlCol="0" anchor="t"/>
          <a:lstStyle/>
          <a:p>
            <a:pPr indent="0" marL="0">
              <a:lnSpc>
                <a:spcPts val="2645"/>
              </a:lnSpc>
              <a:buNone/>
            </a:pPr>
            <a:r>
              <a:rPr lang="en-US" sz="2300" b="1" dirty="0">
                <a:solidFill>
                  <a:srgbClr val="1F6556"/>
                </a:solidFill>
                <a:latin typeface="Noto Sans" pitchFamily="34" charset="0"/>
                <a:ea typeface="Noto Sans" pitchFamily="34" charset="-122"/>
                <a:cs typeface="Noto Sans" pitchFamily="34" charset="-120"/>
              </a:rPr>
              <a:t>03</a:t>
            </a:r>
            <a:endParaRPr lang="en-US" sz="2300" dirty="0"/>
          </a:p>
        </p:txBody>
      </p:sp>
      <p:sp>
        <p:nvSpPr>
          <p:cNvPr id="18" name="Text 16"/>
          <p:cNvSpPr/>
          <p:nvPr/>
        </p:nvSpPr>
        <p:spPr>
          <a:xfrm>
            <a:off x="5266944" y="3172968"/>
            <a:ext cx="1673352" cy="612648"/>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Validate evidence</a:t>
            </a:r>
            <a:endParaRPr lang="en-US" sz="1900" dirty="0"/>
          </a:p>
        </p:txBody>
      </p:sp>
      <p:sp>
        <p:nvSpPr>
          <p:cNvPr id="19" name="Text 17"/>
          <p:cNvSpPr/>
          <p:nvPr/>
        </p:nvSpPr>
        <p:spPr>
          <a:xfrm>
            <a:off x="5266944" y="3867912"/>
            <a:ext cx="1673352"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Check IDs and exact quotes. Reject invalid output.</a:t>
            </a:r>
            <a:endParaRPr lang="en-US" sz="1500" dirty="0"/>
          </a:p>
        </p:txBody>
      </p:sp>
      <p:sp>
        <p:nvSpPr>
          <p:cNvPr id="20" name="Shape 18"/>
          <p:cNvSpPr/>
          <p:nvPr/>
        </p:nvSpPr>
        <p:spPr>
          <a:xfrm>
            <a:off x="7351776" y="2423160"/>
            <a:ext cx="2029968" cy="2404872"/>
          </a:xfrm>
          <a:prstGeom prst="roundRect">
            <a:avLst>
              <a:gd name="adj" fmla="val 6757"/>
            </a:avLst>
          </a:prstGeom>
          <a:solidFill>
            <a:srgbClr val="FFFFFF"/>
          </a:solidFill>
          <a:ln w="12700">
            <a:solidFill>
              <a:srgbClr val="FFFFFF">
                <a:alpha val="0"/>
              </a:srgbClr>
            </a:solidFill>
            <a:prstDash val="solid"/>
          </a:ln>
        </p:spPr>
      </p:sp>
      <p:sp>
        <p:nvSpPr>
          <p:cNvPr id="21" name="Text 19"/>
          <p:cNvSpPr/>
          <p:nvPr/>
        </p:nvSpPr>
        <p:spPr>
          <a:xfrm>
            <a:off x="7534656" y="2642616"/>
            <a:ext cx="1673352" cy="347472"/>
          </a:xfrm>
          <a:prstGeom prst="rect">
            <a:avLst/>
          </a:prstGeom>
          <a:noFill/>
          <a:ln/>
        </p:spPr>
        <p:txBody>
          <a:bodyPr wrap="square" lIns="0" tIns="0" rIns="0" bIns="0" rtlCol="0" anchor="t"/>
          <a:lstStyle/>
          <a:p>
            <a:pPr indent="0" marL="0">
              <a:lnSpc>
                <a:spcPts val="2645"/>
              </a:lnSpc>
              <a:buNone/>
            </a:pPr>
            <a:r>
              <a:rPr lang="en-US" sz="2300" b="1" dirty="0">
                <a:solidFill>
                  <a:srgbClr val="1F6556"/>
                </a:solidFill>
                <a:latin typeface="Noto Sans" pitchFamily="34" charset="0"/>
                <a:ea typeface="Noto Sans" pitchFamily="34" charset="-122"/>
                <a:cs typeface="Noto Sans" pitchFamily="34" charset="-120"/>
              </a:rPr>
              <a:t>04</a:t>
            </a:r>
            <a:endParaRPr lang="en-US" sz="2300" dirty="0"/>
          </a:p>
        </p:txBody>
      </p:sp>
      <p:sp>
        <p:nvSpPr>
          <p:cNvPr id="22" name="Text 20"/>
          <p:cNvSpPr/>
          <p:nvPr/>
        </p:nvSpPr>
        <p:spPr>
          <a:xfrm>
            <a:off x="7534656" y="3172968"/>
            <a:ext cx="1673352" cy="612648"/>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Review the source</a:t>
            </a:r>
            <a:endParaRPr lang="en-US" sz="1900" dirty="0"/>
          </a:p>
        </p:txBody>
      </p:sp>
      <p:sp>
        <p:nvSpPr>
          <p:cNvPr id="23" name="Text 21"/>
          <p:cNvSpPr/>
          <p:nvPr/>
        </p:nvSpPr>
        <p:spPr>
          <a:xfrm>
            <a:off x="7534656" y="3867912"/>
            <a:ext cx="1673352"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Check context, relevance and counterevidence.</a:t>
            </a:r>
            <a:endParaRPr lang="en-US" sz="1500" dirty="0"/>
          </a:p>
        </p:txBody>
      </p:sp>
      <p:sp>
        <p:nvSpPr>
          <p:cNvPr id="24" name="Shape 22"/>
          <p:cNvSpPr/>
          <p:nvPr/>
        </p:nvSpPr>
        <p:spPr>
          <a:xfrm>
            <a:off x="9619488" y="2423160"/>
            <a:ext cx="2029968" cy="2404872"/>
          </a:xfrm>
          <a:prstGeom prst="roundRect">
            <a:avLst>
              <a:gd name="adj" fmla="val 6757"/>
            </a:avLst>
          </a:prstGeom>
          <a:solidFill>
            <a:srgbClr val="FFFFFF"/>
          </a:solidFill>
          <a:ln w="12700">
            <a:solidFill>
              <a:srgbClr val="FFFFFF">
                <a:alpha val="0"/>
              </a:srgbClr>
            </a:solidFill>
            <a:prstDash val="solid"/>
          </a:ln>
        </p:spPr>
      </p:sp>
      <p:sp>
        <p:nvSpPr>
          <p:cNvPr id="25" name="Text 23"/>
          <p:cNvSpPr/>
          <p:nvPr/>
        </p:nvSpPr>
        <p:spPr>
          <a:xfrm>
            <a:off x="9802368" y="2642616"/>
            <a:ext cx="1673352" cy="347472"/>
          </a:xfrm>
          <a:prstGeom prst="rect">
            <a:avLst/>
          </a:prstGeom>
          <a:noFill/>
          <a:ln/>
        </p:spPr>
        <p:txBody>
          <a:bodyPr wrap="square" lIns="0" tIns="0" rIns="0" bIns="0" rtlCol="0" anchor="t"/>
          <a:lstStyle/>
          <a:p>
            <a:pPr indent="0" marL="0">
              <a:lnSpc>
                <a:spcPts val="2645"/>
              </a:lnSpc>
              <a:buNone/>
            </a:pPr>
            <a:r>
              <a:rPr lang="en-US" sz="2300" b="1" dirty="0">
                <a:solidFill>
                  <a:srgbClr val="1F6556"/>
                </a:solidFill>
                <a:latin typeface="Noto Sans" pitchFamily="34" charset="0"/>
                <a:ea typeface="Noto Sans" pitchFamily="34" charset="-122"/>
                <a:cs typeface="Noto Sans" pitchFamily="34" charset="-120"/>
              </a:rPr>
              <a:t>05</a:t>
            </a:r>
            <a:endParaRPr lang="en-US" sz="2300" dirty="0"/>
          </a:p>
        </p:txBody>
      </p:sp>
      <p:sp>
        <p:nvSpPr>
          <p:cNvPr id="26" name="Text 24"/>
          <p:cNvSpPr/>
          <p:nvPr/>
        </p:nvSpPr>
        <p:spPr>
          <a:xfrm>
            <a:off x="9802368" y="3172968"/>
            <a:ext cx="1673352" cy="612648"/>
          </a:xfrm>
          <a:prstGeom prst="rect">
            <a:avLst/>
          </a:prstGeom>
          <a:noFill/>
          <a:ln/>
        </p:spPr>
        <p:txBody>
          <a:bodyPr wrap="square" lIns="0" tIns="0" rIns="0" bIns="0" rtlCol="0" anchor="t"/>
          <a:lstStyle/>
          <a:p>
            <a:pPr indent="0" marL="0">
              <a:lnSpc>
                <a:spcPts val="2185"/>
              </a:lnSpc>
              <a:buNone/>
            </a:pPr>
            <a:r>
              <a:rPr lang="en-US" sz="1900" b="1" dirty="0">
                <a:solidFill>
                  <a:srgbClr val="173B36"/>
                </a:solidFill>
                <a:latin typeface="Noto Sans" pitchFamily="34" charset="0"/>
                <a:ea typeface="Noto Sans" pitchFamily="34" charset="-122"/>
                <a:cs typeface="Noto Sans" pitchFamily="34" charset="-120"/>
              </a:rPr>
              <a:t>Compare &amp; export</a:t>
            </a:r>
            <a:endParaRPr lang="en-US" sz="1900" dirty="0"/>
          </a:p>
        </p:txBody>
      </p:sp>
      <p:sp>
        <p:nvSpPr>
          <p:cNvPr id="27" name="Text 25"/>
          <p:cNvSpPr/>
          <p:nvPr/>
        </p:nvSpPr>
        <p:spPr>
          <a:xfrm>
            <a:off x="9802368" y="3867912"/>
            <a:ext cx="1673352" cy="758952"/>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Compare stage groups and export linked evidence.</a:t>
            </a:r>
            <a:endParaRPr lang="en-US" sz="1500" dirty="0"/>
          </a:p>
        </p:txBody>
      </p:sp>
      <p:sp>
        <p:nvSpPr>
          <p:cNvPr id="28" name="Shape 26"/>
          <p:cNvSpPr/>
          <p:nvPr/>
        </p:nvSpPr>
        <p:spPr>
          <a:xfrm>
            <a:off x="548640" y="5148072"/>
            <a:ext cx="6729984" cy="868680"/>
          </a:xfrm>
          <a:prstGeom prst="roundRect">
            <a:avLst>
              <a:gd name="adj" fmla="val 15789"/>
            </a:avLst>
          </a:prstGeom>
          <a:solidFill>
            <a:srgbClr val="E4EADC"/>
          </a:solidFill>
          <a:ln w="12700">
            <a:solidFill>
              <a:srgbClr val="E4EADC">
                <a:alpha val="0"/>
              </a:srgbClr>
            </a:solidFill>
            <a:prstDash val="solid"/>
          </a:ln>
        </p:spPr>
      </p:sp>
      <p:sp>
        <p:nvSpPr>
          <p:cNvPr id="29" name="Text 27"/>
          <p:cNvSpPr/>
          <p:nvPr/>
        </p:nvSpPr>
        <p:spPr>
          <a:xfrm>
            <a:off x="768096" y="5358384"/>
            <a:ext cx="6291072" cy="320040"/>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Seed: 12 excerpts / 5 threads / 3 communities</a:t>
            </a:r>
            <a:endParaRPr lang="en-US" sz="1800" dirty="0"/>
          </a:p>
        </p:txBody>
      </p:sp>
      <p:sp>
        <p:nvSpPr>
          <p:cNvPr id="30" name="Text 28"/>
          <p:cNvSpPr/>
          <p:nvPr/>
        </p:nvSpPr>
        <p:spPr>
          <a:xfrm>
            <a:off x="768096" y="5733288"/>
            <a:ext cx="6291072" cy="201168"/>
          </a:xfrm>
          <a:prstGeom prst="rect">
            <a:avLst/>
          </a:prstGeom>
          <a:noFill/>
          <a:ln/>
        </p:spPr>
        <p:txBody>
          <a:bodyPr wrap="square" lIns="0" tIns="0" rIns="0" bIns="0" rtlCol="0" anchor="t"/>
          <a:lstStyle/>
          <a:p>
            <a:pPr indent="0" marL="0">
              <a:lnSpc>
                <a:spcPts val="1610"/>
              </a:lnSpc>
              <a:buNone/>
            </a:pPr>
            <a:r>
              <a:rPr lang="en-US" sz="1400" dirty="0">
                <a:solidFill>
                  <a:srgbClr val="334D47"/>
                </a:solidFill>
                <a:latin typeface="Noto Sans" pitchFamily="34" charset="0"/>
                <a:ea typeface="Noto Sans" pitchFamily="34" charset="-122"/>
                <a:cs typeface="Noto Sans" pitchFamily="34" charset="-120"/>
              </a:rPr>
              <a:t>A small desk-research seed—not at-scale validation.</a:t>
            </a:r>
            <a:endParaRPr lang="en-US" sz="1400" dirty="0"/>
          </a:p>
        </p:txBody>
      </p:sp>
      <p:sp>
        <p:nvSpPr>
          <p:cNvPr id="31" name="Text 29"/>
          <p:cNvSpPr/>
          <p:nvPr/>
        </p:nvSpPr>
        <p:spPr>
          <a:xfrm>
            <a:off x="7644384" y="5257800"/>
            <a:ext cx="3913632" cy="704088"/>
          </a:xfrm>
          <a:prstGeom prst="rect">
            <a:avLst/>
          </a:prstGeom>
          <a:noFill/>
          <a:ln/>
        </p:spPr>
        <p:txBody>
          <a:bodyPr wrap="square" lIns="0" tIns="0" rIns="0" bIns="0" rtlCol="0" anchor="t"/>
          <a:lstStyle/>
          <a:p>
            <a:pPr indent="0" marL="0">
              <a:lnSpc>
                <a:spcPts val="2070"/>
              </a:lnSpc>
              <a:buNone/>
            </a:pPr>
            <a:r>
              <a:rPr lang="en-US" sz="1800" dirty="0">
                <a:solidFill>
                  <a:srgbClr val="334D47"/>
                </a:solidFill>
                <a:latin typeface="Noto Sans" pitchFamily="34" charset="0"/>
                <a:ea typeface="Noto Sans" pitchFamily="34" charset="-122"/>
                <a:cs typeface="Noto Sans" pitchFamily="34" charset="-120"/>
              </a:rPr>
              <a:t>Live extraction: batches of 20.</a:t>
            </a:r>
            <a:endParaRPr lang="en-US" sz="1800" dirty="0"/>
          </a:p>
          <a:p>
            <a:pPr indent="0" marL="0">
              <a:lnSpc>
                <a:spcPts val="2070"/>
              </a:lnSpc>
              <a:buNone/>
            </a:pPr>
            <a:r>
              <a:rPr lang="en-US" sz="1800" dirty="0">
                <a:solidFill>
                  <a:srgbClr val="334D47"/>
                </a:solidFill>
                <a:latin typeface="Noto Sans" pitchFamily="34" charset="0"/>
                <a:ea typeface="Noto Sans" pitchFamily="34" charset="-122"/>
                <a:cs typeface="Noto Sans" pitchFamily="34" charset="-120"/>
              </a:rPr>
              <a:t>Provider calls and public URL: pending.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PUBLIC-SOURCE FINDINGS</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Public reports expose several failures—not one validated root cause.</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The seed includes historical complaints, positive experiences and one adjacent scoping issue.</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a:hlinkClick r:id="rId1" tooltip=""/>
          </p:cNvPr>
          <p:cNvSpPr/>
          <p:nvPr/>
        </p:nvSpPr>
        <p:spPr>
          <a:xfrm>
            <a:off x="8321040" y="6473952"/>
            <a:ext cx="1124712" cy="201168"/>
          </a:xfrm>
          <a:prstGeom prst="rect">
            <a:avLst/>
          </a:prstGeom>
          <a:noFill/>
          <a:ln/>
        </p:spPr>
        <p:txBody>
          <a:bodyPr wrap="square" lIns="0" tIns="0" rIns="0" bIns="0" rtlCol="0" anchor="t"/>
          <a:lstStyle/>
          <a:p>
            <a:pPr indent="0" marL="0">
              <a:lnSpc>
                <a:spcPts val="1610"/>
              </a:lnSpc>
              <a:buNone/>
            </a:pPr>
            <a:r>
              <a:rPr lang="en-US" sz="1400" u="sng" dirty="0">
                <a:solidFill>
                  <a:srgbClr val="1F6556"/>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Threads S1</a:t>
            </a:r>
            <a:endParaRPr lang="en-US" sz="1400" dirty="0"/>
          </a:p>
        </p:txBody>
      </p:sp>
      <p:sp>
        <p:nvSpPr>
          <p:cNvPr id="8" name="Text 6">
            <a:hlinkClick r:id="rId2" tooltip=""/>
          </p:cNvPr>
          <p:cNvSpPr/>
          <p:nvPr/>
        </p:nvSpPr>
        <p:spPr>
          <a:xfrm>
            <a:off x="9482328" y="6473952"/>
            <a:ext cx="1124712" cy="201168"/>
          </a:xfrm>
          <a:prstGeom prst="rect">
            <a:avLst/>
          </a:prstGeom>
          <a:noFill/>
          <a:ln/>
        </p:spPr>
        <p:txBody>
          <a:bodyPr wrap="square" lIns="0" tIns="0" rIns="0" bIns="0" rtlCol="0" anchor="t"/>
          <a:lstStyle/>
          <a:p>
            <a:pPr indent="0" marL="0">
              <a:lnSpc>
                <a:spcPts val="1610"/>
              </a:lnSpc>
              <a:buNone/>
            </a:pPr>
            <a:r>
              <a:rPr lang="en-US" sz="1400" u="sng" dirty="0">
                <a:solidFill>
                  <a:srgbClr val="1F6556"/>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HN S4</a:t>
            </a:r>
            <a:endParaRPr lang="en-US" sz="1400" dirty="0"/>
          </a:p>
        </p:txBody>
      </p:sp>
      <p:sp>
        <p:nvSpPr>
          <p:cNvPr id="9" name="Text 7"/>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04 / 10</a:t>
            </a:r>
            <a:endParaRPr lang="en-US" sz="1400" dirty="0"/>
          </a:p>
        </p:txBody>
      </p:sp>
      <p:sp>
        <p:nvSpPr>
          <p:cNvPr id="10" name="Shape 8"/>
          <p:cNvSpPr/>
          <p:nvPr/>
        </p:nvSpPr>
        <p:spPr>
          <a:xfrm>
            <a:off x="548640" y="2350008"/>
            <a:ext cx="5422392" cy="1655064"/>
          </a:xfrm>
          <a:prstGeom prst="roundRect">
            <a:avLst>
              <a:gd name="adj" fmla="val 8287"/>
            </a:avLst>
          </a:prstGeom>
          <a:solidFill>
            <a:srgbClr val="FFFFFF"/>
          </a:solidFill>
          <a:ln w="12700">
            <a:solidFill>
              <a:srgbClr val="FFFFFF">
                <a:alpha val="0"/>
              </a:srgbClr>
            </a:solidFill>
            <a:prstDash val="solid"/>
          </a:ln>
        </p:spPr>
      </p:sp>
      <p:sp>
        <p:nvSpPr>
          <p:cNvPr id="11" name="Text 9"/>
          <p:cNvSpPr/>
          <p:nvPr/>
        </p:nvSpPr>
        <p:spPr>
          <a:xfrm>
            <a:off x="758952" y="2514600"/>
            <a:ext cx="4992624" cy="201168"/>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RETRIEVE · R02</a:t>
            </a:r>
            <a:endParaRPr lang="en-US" sz="1400" dirty="0"/>
          </a:p>
        </p:txBody>
      </p:sp>
      <p:sp>
        <p:nvSpPr>
          <p:cNvPr id="12" name="Text 10"/>
          <p:cNvSpPr/>
          <p:nvPr/>
        </p:nvSpPr>
        <p:spPr>
          <a:xfrm>
            <a:off x="758952" y="2852928"/>
            <a:ext cx="4983480" cy="356616"/>
          </a:xfrm>
          <a:prstGeom prst="rect">
            <a:avLst/>
          </a:prstGeom>
          <a:noFill/>
          <a:ln/>
        </p:spPr>
        <p:txBody>
          <a:bodyPr wrap="square" lIns="0" tIns="0" rIns="0" bIns="0" rtlCol="0" anchor="t"/>
          <a:lstStyle/>
          <a:p>
            <a:pPr indent="0" marL="0">
              <a:lnSpc>
                <a:spcPts val="2300"/>
              </a:lnSpc>
              <a:buNone/>
            </a:pPr>
            <a:r>
              <a:rPr lang="en-US" sz="2000" b="1" dirty="0">
                <a:solidFill>
                  <a:srgbClr val="173B36"/>
                </a:solidFill>
                <a:latin typeface="Noto Sans" pitchFamily="34" charset="0"/>
                <a:ea typeface="Noto Sans" pitchFamily="34" charset="-122"/>
                <a:cs typeface="Noto Sans" pitchFamily="34" charset="-120"/>
              </a:rPr>
              <a:t>Combined clues can miss</a:t>
            </a:r>
            <a:endParaRPr lang="en-US" sz="2000" dirty="0"/>
          </a:p>
        </p:txBody>
      </p:sp>
      <p:sp>
        <p:nvSpPr>
          <p:cNvPr id="13" name="Text 11"/>
          <p:cNvSpPr/>
          <p:nvPr/>
        </p:nvSpPr>
        <p:spPr>
          <a:xfrm>
            <a:off x="758952" y="3300984"/>
            <a:ext cx="4992624" cy="521208"/>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One poster reports no results for a season + city + year query. This may be an indexing or matching issue.</a:t>
            </a:r>
            <a:endParaRPr lang="en-US" sz="1500" dirty="0"/>
          </a:p>
        </p:txBody>
      </p:sp>
      <p:sp>
        <p:nvSpPr>
          <p:cNvPr id="14" name="Shape 12"/>
          <p:cNvSpPr/>
          <p:nvPr/>
        </p:nvSpPr>
        <p:spPr>
          <a:xfrm>
            <a:off x="6227064" y="2350008"/>
            <a:ext cx="5422392" cy="1655064"/>
          </a:xfrm>
          <a:prstGeom prst="roundRect">
            <a:avLst>
              <a:gd name="adj" fmla="val 8287"/>
            </a:avLst>
          </a:prstGeom>
          <a:solidFill>
            <a:srgbClr val="FFFFFF"/>
          </a:solidFill>
          <a:ln w="12700">
            <a:solidFill>
              <a:srgbClr val="FFFFFF">
                <a:alpha val="0"/>
              </a:srgbClr>
            </a:solidFill>
            <a:prstDash val="solid"/>
          </a:ln>
        </p:spPr>
      </p:sp>
      <p:sp>
        <p:nvSpPr>
          <p:cNvPr id="15" name="Text 13"/>
          <p:cNvSpPr/>
          <p:nvPr/>
        </p:nvSpPr>
        <p:spPr>
          <a:xfrm>
            <a:off x="6437376" y="2514600"/>
            <a:ext cx="4992624" cy="201168"/>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REFINE · R03</a:t>
            </a:r>
            <a:endParaRPr lang="en-US" sz="1400" dirty="0"/>
          </a:p>
        </p:txBody>
      </p:sp>
      <p:sp>
        <p:nvSpPr>
          <p:cNvPr id="16" name="Text 14"/>
          <p:cNvSpPr/>
          <p:nvPr/>
        </p:nvSpPr>
        <p:spPr>
          <a:xfrm>
            <a:off x="6437376" y="2852928"/>
            <a:ext cx="4983480" cy="356616"/>
          </a:xfrm>
          <a:prstGeom prst="rect">
            <a:avLst/>
          </a:prstGeom>
          <a:noFill/>
          <a:ln/>
        </p:spPr>
        <p:txBody>
          <a:bodyPr wrap="square" lIns="0" tIns="0" rIns="0" bIns="0" rtlCol="0" anchor="t"/>
          <a:lstStyle/>
          <a:p>
            <a:pPr indent="0" marL="0">
              <a:lnSpc>
                <a:spcPts val="2300"/>
              </a:lnSpc>
              <a:buNone/>
            </a:pPr>
            <a:r>
              <a:rPr lang="en-US" sz="2000" b="1" dirty="0">
                <a:solidFill>
                  <a:srgbClr val="173B36"/>
                </a:solidFill>
                <a:latin typeface="Noto Sans" pitchFamily="34" charset="0"/>
                <a:ea typeface="Noto Sans" pitchFamily="34" charset="-122"/>
                <a:cs typeface="Noto Sans" pitchFamily="34" charset="-120"/>
              </a:rPr>
              <a:t>A near-match can become a dead end</a:t>
            </a:r>
            <a:endParaRPr lang="en-US" sz="2000" dirty="0"/>
          </a:p>
        </p:txBody>
      </p:sp>
      <p:sp>
        <p:nvSpPr>
          <p:cNvPr id="17" name="Text 15"/>
          <p:cNvSpPr/>
          <p:nvPr/>
        </p:nvSpPr>
        <p:spPr>
          <a:xfrm>
            <a:off x="6437376" y="3300984"/>
            <a:ext cx="4992624" cy="521208"/>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A poster reports losing navigation from a result to other photos from the same date.</a:t>
            </a:r>
            <a:endParaRPr lang="en-US" sz="1500" dirty="0"/>
          </a:p>
        </p:txBody>
      </p:sp>
      <p:sp>
        <p:nvSpPr>
          <p:cNvPr id="18" name="Shape 16"/>
          <p:cNvSpPr/>
          <p:nvPr/>
        </p:nvSpPr>
        <p:spPr>
          <a:xfrm>
            <a:off x="548640" y="4224528"/>
            <a:ext cx="5422392" cy="1655064"/>
          </a:xfrm>
          <a:prstGeom prst="roundRect">
            <a:avLst>
              <a:gd name="adj" fmla="val 8287"/>
            </a:avLst>
          </a:prstGeom>
          <a:solidFill>
            <a:srgbClr val="FFFFFF"/>
          </a:solidFill>
          <a:ln w="12700">
            <a:solidFill>
              <a:srgbClr val="FFFFFF">
                <a:alpha val="0"/>
              </a:srgbClr>
            </a:solidFill>
            <a:prstDash val="solid"/>
          </a:ln>
        </p:spPr>
      </p:sp>
      <p:sp>
        <p:nvSpPr>
          <p:cNvPr id="19" name="Text 17"/>
          <p:cNvSpPr/>
          <p:nvPr/>
        </p:nvSpPr>
        <p:spPr>
          <a:xfrm>
            <a:off x="758952" y="4389120"/>
            <a:ext cx="4992624" cy="201168"/>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RETRIEVE · R05 / R09</a:t>
            </a:r>
            <a:endParaRPr lang="en-US" sz="1400" dirty="0"/>
          </a:p>
        </p:txBody>
      </p:sp>
      <p:sp>
        <p:nvSpPr>
          <p:cNvPr id="20" name="Text 18"/>
          <p:cNvSpPr/>
          <p:nvPr/>
        </p:nvSpPr>
        <p:spPr>
          <a:xfrm>
            <a:off x="758952" y="4727448"/>
            <a:ext cx="4983480" cy="356616"/>
          </a:xfrm>
          <a:prstGeom prst="rect">
            <a:avLst/>
          </a:prstGeom>
          <a:noFill/>
          <a:ln/>
        </p:spPr>
        <p:txBody>
          <a:bodyPr wrap="square" lIns="0" tIns="0" rIns="0" bIns="0" rtlCol="0" anchor="t"/>
          <a:lstStyle/>
          <a:p>
            <a:pPr indent="0" marL="0">
              <a:lnSpc>
                <a:spcPts val="2300"/>
              </a:lnSpc>
              <a:buNone/>
            </a:pPr>
            <a:r>
              <a:rPr lang="en-US" sz="2000" b="1" dirty="0">
                <a:solidFill>
                  <a:srgbClr val="173B36"/>
                </a:solidFill>
                <a:latin typeface="Noto Sans" pitchFamily="34" charset="0"/>
                <a:ea typeface="Noto Sans" pitchFamily="34" charset="-122"/>
                <a:cs typeface="Noto Sans" pitchFamily="34" charset="-120"/>
              </a:rPr>
              <a:t>Candidate coverage can be incomplete</a:t>
            </a:r>
            <a:endParaRPr lang="en-US" sz="2000" dirty="0"/>
          </a:p>
        </p:txBody>
      </p:sp>
      <p:sp>
        <p:nvSpPr>
          <p:cNvPr id="21" name="Text 19"/>
          <p:cNvSpPr/>
          <p:nvPr/>
        </p:nvSpPr>
        <p:spPr>
          <a:xfrm>
            <a:off x="758952" y="5175504"/>
            <a:ext cx="4992624" cy="521208"/>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Bird and cat searches are reported to return only a small subset. Better recovery cannot fix a missing index.</a:t>
            </a:r>
            <a:endParaRPr lang="en-US" sz="1500" dirty="0"/>
          </a:p>
        </p:txBody>
      </p:sp>
      <p:sp>
        <p:nvSpPr>
          <p:cNvPr id="22" name="Shape 20"/>
          <p:cNvSpPr/>
          <p:nvPr/>
        </p:nvSpPr>
        <p:spPr>
          <a:xfrm>
            <a:off x="6227064" y="4224528"/>
            <a:ext cx="5422392" cy="1655064"/>
          </a:xfrm>
          <a:prstGeom prst="roundRect">
            <a:avLst>
              <a:gd name="adj" fmla="val 8287"/>
            </a:avLst>
          </a:prstGeom>
          <a:solidFill>
            <a:srgbClr val="E4EADC"/>
          </a:solidFill>
          <a:ln w="12700">
            <a:solidFill>
              <a:srgbClr val="E4EADC">
                <a:alpha val="0"/>
              </a:srgbClr>
            </a:solidFill>
            <a:prstDash val="solid"/>
          </a:ln>
        </p:spPr>
      </p:sp>
      <p:sp>
        <p:nvSpPr>
          <p:cNvPr id="23" name="Text 21"/>
          <p:cNvSpPr/>
          <p:nvPr/>
        </p:nvSpPr>
        <p:spPr>
          <a:xfrm>
            <a:off x="6437376" y="4389120"/>
            <a:ext cx="4992624" cy="201168"/>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COUNTEREVIDENCE · R04 / R10</a:t>
            </a:r>
            <a:endParaRPr lang="en-US" sz="1400" dirty="0"/>
          </a:p>
        </p:txBody>
      </p:sp>
      <p:sp>
        <p:nvSpPr>
          <p:cNvPr id="24" name="Text 22"/>
          <p:cNvSpPr/>
          <p:nvPr/>
        </p:nvSpPr>
        <p:spPr>
          <a:xfrm>
            <a:off x="6437376" y="4727448"/>
            <a:ext cx="4983480" cy="356616"/>
          </a:xfrm>
          <a:prstGeom prst="rect">
            <a:avLst/>
          </a:prstGeom>
          <a:noFill/>
          <a:ln/>
        </p:spPr>
        <p:txBody>
          <a:bodyPr wrap="square" lIns="0" tIns="0" rIns="0" bIns="0" rtlCol="0" anchor="t"/>
          <a:lstStyle/>
          <a:p>
            <a:pPr indent="0" marL="0">
              <a:lnSpc>
                <a:spcPts val="2300"/>
              </a:lnSpc>
              <a:buNone/>
            </a:pPr>
            <a:r>
              <a:rPr lang="en-US" sz="2000" b="1" dirty="0">
                <a:solidFill>
                  <a:srgbClr val="173B36"/>
                </a:solidFill>
                <a:latin typeface="Noto Sans" pitchFamily="34" charset="0"/>
                <a:ea typeface="Noto Sans" pitchFamily="34" charset="-122"/>
                <a:cs typeface="Noto Sans" pitchFamily="34" charset="-120"/>
              </a:rPr>
              <a:t>Search also works for some people</a:t>
            </a:r>
            <a:endParaRPr lang="en-US" sz="2000" dirty="0"/>
          </a:p>
        </p:txBody>
      </p:sp>
      <p:sp>
        <p:nvSpPr>
          <p:cNvPr id="25" name="Text 23"/>
          <p:cNvSpPr/>
          <p:nvPr/>
        </p:nvSpPr>
        <p:spPr>
          <a:xfrm>
            <a:off x="6437376" y="5175504"/>
            <a:ext cx="4992624" cy="521208"/>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Other posters report useful results or improved retrieval. Do not infer a universal product failure.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TARGET SEGMENT &amp; PROBLEM DEFINITION</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Start with travellers who remember a scene, not exact dates.</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Provisional problem: uncertain clues may block recovery of a photo that is actually present.</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05 / 10</a:t>
            </a:r>
            <a:endParaRPr lang="en-US" sz="1400" dirty="0"/>
          </a:p>
        </p:txBody>
      </p:sp>
      <p:sp>
        <p:nvSpPr>
          <p:cNvPr id="8" name="Shape 6"/>
          <p:cNvSpPr/>
          <p:nvPr/>
        </p:nvSpPr>
        <p:spPr>
          <a:xfrm>
            <a:off x="548640" y="2350008"/>
            <a:ext cx="3547872" cy="2962656"/>
          </a:xfrm>
          <a:prstGeom prst="roundRect">
            <a:avLst>
              <a:gd name="adj" fmla="val 4630"/>
            </a:avLst>
          </a:prstGeom>
          <a:solidFill>
            <a:srgbClr val="FFFFFF"/>
          </a:solidFill>
          <a:ln w="12700">
            <a:solidFill>
              <a:srgbClr val="FFFFFF">
                <a:alpha val="0"/>
              </a:srgbClr>
            </a:solidFill>
            <a:prstDash val="solid"/>
          </a:ln>
        </p:spPr>
      </p:sp>
      <p:sp>
        <p:nvSpPr>
          <p:cNvPr id="9" name="Text 7"/>
          <p:cNvSpPr/>
          <p:nvPr/>
        </p:nvSpPr>
        <p:spPr>
          <a:xfrm>
            <a:off x="768096" y="2560320"/>
            <a:ext cx="3108960"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PROVISIONAL SEGMENT</a:t>
            </a:r>
            <a:endParaRPr lang="en-US" sz="1400" dirty="0"/>
          </a:p>
        </p:txBody>
      </p:sp>
      <p:sp>
        <p:nvSpPr>
          <p:cNvPr id="10" name="Text 8"/>
          <p:cNvSpPr/>
          <p:nvPr/>
        </p:nvSpPr>
        <p:spPr>
          <a:xfrm>
            <a:off x="768096" y="3008376"/>
            <a:ext cx="3108960" cy="694944"/>
          </a:xfrm>
          <a:prstGeom prst="rect">
            <a:avLst/>
          </a:prstGeom>
          <a:noFill/>
          <a:ln/>
        </p:spPr>
        <p:txBody>
          <a:bodyPr wrap="square" lIns="0" tIns="0" rIns="0" bIns="0" rtlCol="0" anchor="t"/>
          <a:lstStyle/>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Scene remembered;</a:t>
            </a:r>
            <a:endParaRPr lang="en-US" sz="2200" dirty="0"/>
          </a:p>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metadata uncertain</a:t>
            </a:r>
            <a:endParaRPr lang="en-US" sz="2200" dirty="0"/>
          </a:p>
        </p:txBody>
      </p:sp>
      <p:sp>
        <p:nvSpPr>
          <p:cNvPr id="11" name="Text 9"/>
          <p:cNvSpPr/>
          <p:nvPr/>
        </p:nvSpPr>
        <p:spPr>
          <a:xfrm>
            <a:off x="768096" y="3822192"/>
            <a:ext cx="3108960" cy="1344168"/>
          </a:xfrm>
          <a:prstGeom prst="rect">
            <a:avLst/>
          </a:prstGeom>
          <a:noFill/>
          <a:ln/>
        </p:spPr>
        <p:txBody>
          <a:bodyPr wrap="square" lIns="0" tIns="0" rIns="0" bIns="0" rtlCol="0" anchor="t"/>
          <a:lstStyle/>
          <a:p>
            <a:pPr indent="0" marL="0">
              <a:lnSpc>
                <a:spcPts val="1955"/>
              </a:lnSpc>
              <a:buNone/>
            </a:pPr>
            <a:r>
              <a:rPr lang="en-US" sz="1700" dirty="0">
                <a:solidFill>
                  <a:srgbClr val="334D47"/>
                </a:solidFill>
                <a:latin typeface="Noto Sans" pitchFamily="34" charset="0"/>
                <a:ea typeface="Noto Sans" pitchFamily="34" charset="-122"/>
                <a:cs typeface="Noto Sans" pitchFamily="34" charset="-120"/>
              </a:rPr>
              <a:t>Recruit Google Photos users with 2+ years of trip history and a recent difficult retrieval attempt.</a:t>
            </a:r>
            <a:endParaRPr lang="en-US" sz="1700" dirty="0"/>
          </a:p>
        </p:txBody>
      </p:sp>
      <p:sp>
        <p:nvSpPr>
          <p:cNvPr id="12" name="Shape 10"/>
          <p:cNvSpPr/>
          <p:nvPr/>
        </p:nvSpPr>
        <p:spPr>
          <a:xfrm>
            <a:off x="4325112" y="2350008"/>
            <a:ext cx="3547872" cy="2962656"/>
          </a:xfrm>
          <a:prstGeom prst="roundRect">
            <a:avLst>
              <a:gd name="adj" fmla="val 4630"/>
            </a:avLst>
          </a:prstGeom>
          <a:solidFill>
            <a:srgbClr val="E4EADC"/>
          </a:solidFill>
          <a:ln w="12700">
            <a:solidFill>
              <a:srgbClr val="E4EADC">
                <a:alpha val="0"/>
              </a:srgbClr>
            </a:solidFill>
            <a:prstDash val="solid"/>
          </a:ln>
        </p:spPr>
      </p:sp>
      <p:sp>
        <p:nvSpPr>
          <p:cNvPr id="13" name="Text 11"/>
          <p:cNvSpPr/>
          <p:nvPr/>
        </p:nvSpPr>
        <p:spPr>
          <a:xfrm>
            <a:off x="4544568" y="2560320"/>
            <a:ext cx="3108960"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ROOT-CAUSE HYPOTHESIS</a:t>
            </a:r>
            <a:endParaRPr lang="en-US" sz="1400" dirty="0"/>
          </a:p>
        </p:txBody>
      </p:sp>
      <p:sp>
        <p:nvSpPr>
          <p:cNvPr id="14" name="Text 12"/>
          <p:cNvSpPr/>
          <p:nvPr/>
        </p:nvSpPr>
        <p:spPr>
          <a:xfrm>
            <a:off x="4544568" y="3008376"/>
            <a:ext cx="3108960" cy="694944"/>
          </a:xfrm>
          <a:prstGeom prst="rect">
            <a:avLst/>
          </a:prstGeom>
          <a:noFill/>
          <a:ln/>
        </p:spPr>
        <p:txBody>
          <a:bodyPr wrap="square" lIns="0" tIns="0" rIns="0" bIns="0" rtlCol="0" anchor="t"/>
          <a:lstStyle/>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Guesses may derail</a:t>
            </a:r>
            <a:endParaRPr lang="en-US" sz="2200" dirty="0"/>
          </a:p>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the recovery path</a:t>
            </a:r>
            <a:endParaRPr lang="en-US" sz="2200" dirty="0"/>
          </a:p>
        </p:txBody>
      </p:sp>
      <p:sp>
        <p:nvSpPr>
          <p:cNvPr id="15" name="Text 13"/>
          <p:cNvSpPr/>
          <p:nvPr/>
        </p:nvSpPr>
        <p:spPr>
          <a:xfrm>
            <a:off x="4544568" y="3822192"/>
            <a:ext cx="3108960" cy="1344168"/>
          </a:xfrm>
          <a:prstGeom prst="rect">
            <a:avLst/>
          </a:prstGeom>
          <a:noFill/>
          <a:ln/>
        </p:spPr>
        <p:txBody>
          <a:bodyPr wrap="square" lIns="0" tIns="0" rIns="0" bIns="0" rtlCol="0" anchor="t"/>
          <a:lstStyle/>
          <a:p>
            <a:pPr indent="0" marL="0">
              <a:lnSpc>
                <a:spcPts val="1955"/>
              </a:lnSpc>
              <a:buNone/>
            </a:pPr>
            <a:r>
              <a:rPr lang="en-US" sz="1700" dirty="0">
                <a:solidFill>
                  <a:srgbClr val="334D47"/>
                </a:solidFill>
                <a:latin typeface="Noto Sans" pitchFamily="34" charset="0"/>
                <a:ea typeface="Noto Sans" pitchFamily="34" charset="-122"/>
                <a:cs typeface="Noto Sans" pitchFamily="34" charset="-120"/>
              </a:rPr>
              <a:t>Users may need to separate known clues from guesses, then explore the event around a plausible result.</a:t>
            </a:r>
            <a:endParaRPr lang="en-US" sz="1700" dirty="0"/>
          </a:p>
        </p:txBody>
      </p:sp>
      <p:sp>
        <p:nvSpPr>
          <p:cNvPr id="16" name="Shape 14"/>
          <p:cNvSpPr/>
          <p:nvPr/>
        </p:nvSpPr>
        <p:spPr>
          <a:xfrm>
            <a:off x="8101584" y="2350008"/>
            <a:ext cx="3547872" cy="2962656"/>
          </a:xfrm>
          <a:prstGeom prst="roundRect">
            <a:avLst>
              <a:gd name="adj" fmla="val 4630"/>
            </a:avLst>
          </a:prstGeom>
          <a:solidFill>
            <a:srgbClr val="FFFFFF"/>
          </a:solidFill>
          <a:ln w="12700">
            <a:solidFill>
              <a:srgbClr val="FFFFFF">
                <a:alpha val="0"/>
              </a:srgbClr>
            </a:solidFill>
            <a:prstDash val="solid"/>
          </a:ln>
        </p:spPr>
      </p:sp>
      <p:sp>
        <p:nvSpPr>
          <p:cNvPr id="17" name="Text 15"/>
          <p:cNvSpPr/>
          <p:nvPr/>
        </p:nvSpPr>
        <p:spPr>
          <a:xfrm>
            <a:off x="8321040" y="2560320"/>
            <a:ext cx="3108960"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REQUIRED FIELD RESEARCH</a:t>
            </a:r>
            <a:endParaRPr lang="en-US" sz="1400" dirty="0"/>
          </a:p>
        </p:txBody>
      </p:sp>
      <p:sp>
        <p:nvSpPr>
          <p:cNvPr id="18" name="Text 16"/>
          <p:cNvSpPr/>
          <p:nvPr/>
        </p:nvSpPr>
        <p:spPr>
          <a:xfrm>
            <a:off x="8321040" y="3008376"/>
            <a:ext cx="3108960" cy="694944"/>
          </a:xfrm>
          <a:prstGeom prst="rect">
            <a:avLst/>
          </a:prstGeom>
          <a:noFill/>
          <a:ln/>
        </p:spPr>
        <p:txBody>
          <a:bodyPr wrap="square" lIns="0" tIns="0" rIns="0" bIns="0" rtlCol="0" anchor="t"/>
          <a:lstStyle/>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Observe 5–6 users</a:t>
            </a:r>
            <a:endParaRPr lang="en-US" sz="2200" dirty="0"/>
          </a:p>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before committing</a:t>
            </a:r>
            <a:endParaRPr lang="en-US" sz="2200" dirty="0"/>
          </a:p>
        </p:txBody>
      </p:sp>
      <p:sp>
        <p:nvSpPr>
          <p:cNvPr id="19" name="Text 17"/>
          <p:cNvSpPr/>
          <p:nvPr/>
        </p:nvSpPr>
        <p:spPr>
          <a:xfrm>
            <a:off x="8321040" y="3822192"/>
            <a:ext cx="3108960" cy="1344168"/>
          </a:xfrm>
          <a:prstGeom prst="rect">
            <a:avLst/>
          </a:prstGeom>
          <a:noFill/>
          <a:ln/>
        </p:spPr>
        <p:txBody>
          <a:bodyPr wrap="square" lIns="0" tIns="0" rIns="0" bIns="0" rtlCol="0" anchor="t"/>
          <a:lstStyle/>
          <a:p>
            <a:pPr indent="0" marL="0">
              <a:lnSpc>
                <a:spcPts val="1955"/>
              </a:lnSpc>
              <a:buNone/>
            </a:pPr>
            <a:r>
              <a:rPr lang="en-US" sz="1700" dirty="0">
                <a:solidFill>
                  <a:srgbClr val="334D47"/>
                </a:solidFill>
                <a:latin typeface="Noto Sans" pitchFamily="34" charset="0"/>
                <a:ea typeface="Noto Sans" pitchFamily="34" charset="-122"/>
                <a:cs typeface="Noto Sans" pitchFamily="34" charset="-120"/>
              </a:rPr>
              <a:t>Reconstruct a recent incident. Watch an unprimed retrieval task. Record where the search actually breaks.</a:t>
            </a:r>
            <a:endParaRPr lang="en-US" sz="1700" dirty="0"/>
          </a:p>
        </p:txBody>
      </p:sp>
      <p:sp>
        <p:nvSpPr>
          <p:cNvPr id="20" name="Shape 18"/>
          <p:cNvSpPr/>
          <p:nvPr/>
        </p:nvSpPr>
        <p:spPr>
          <a:xfrm>
            <a:off x="548640" y="5559552"/>
            <a:ext cx="11091672" cy="548640"/>
          </a:xfrm>
          <a:prstGeom prst="roundRect">
            <a:avLst>
              <a:gd name="adj" fmla="val 25000"/>
            </a:avLst>
          </a:prstGeom>
          <a:solidFill>
            <a:srgbClr val="F4EBCF"/>
          </a:solidFill>
          <a:ln w="12700">
            <a:solidFill>
              <a:srgbClr val="F4EBCF">
                <a:alpha val="0"/>
              </a:srgbClr>
            </a:solidFill>
            <a:prstDash val="solid"/>
          </a:ln>
        </p:spPr>
      </p:sp>
      <p:sp>
        <p:nvSpPr>
          <p:cNvPr id="21" name="Text 19"/>
          <p:cNvSpPr/>
          <p:nvPr/>
        </p:nvSpPr>
        <p:spPr>
          <a:xfrm>
            <a:off x="749808" y="5715000"/>
            <a:ext cx="10698480" cy="256032"/>
          </a:xfrm>
          <a:prstGeom prst="rect">
            <a:avLst/>
          </a:prstGeom>
          <a:noFill/>
          <a:ln/>
        </p:spPr>
        <p:txBody>
          <a:bodyPr wrap="square" lIns="0" tIns="0" rIns="0" bIns="0" rtlCol="0" anchor="t"/>
          <a:lstStyle/>
          <a:p>
            <a:pPr indent="0" marL="0">
              <a:lnSpc>
                <a:spcPts val="1955"/>
              </a:lnSpc>
              <a:buNone/>
            </a:pPr>
            <a:r>
              <a:rPr lang="en-US" sz="1700" b="1" dirty="0">
                <a:solidFill>
                  <a:srgbClr val="173B36"/>
                </a:solidFill>
                <a:latin typeface="Noto Sans" pitchFamily="34" charset="0"/>
                <a:ea typeface="Noto Sans" pitchFamily="34" charset="-122"/>
                <a:cs typeface="Noto Sans" pitchFamily="34" charset="-120"/>
              </a:rPr>
              <a:t>Pivot if the target is not indexed—or current Ask Photos already solves the observed task.</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SOLUTION RATIONALE</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Expose uncertainty before asking users to rewrite the search.</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Three reversible steps test the recovery hypothesis without treating a guess as a hard filter.</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a:hlinkClick r:id="rId1" tooltip=""/>
          </p:cNvPr>
          <p:cNvSpPr/>
          <p:nvPr/>
        </p:nvSpPr>
        <p:spPr>
          <a:xfrm>
            <a:off x="8321040" y="6473952"/>
            <a:ext cx="1124712" cy="201168"/>
          </a:xfrm>
          <a:prstGeom prst="rect">
            <a:avLst/>
          </a:prstGeom>
          <a:noFill/>
          <a:ln/>
        </p:spPr>
        <p:txBody>
          <a:bodyPr wrap="square" lIns="0" tIns="0" rIns="0" bIns="0" rtlCol="0" anchor="t"/>
          <a:lstStyle/>
          <a:p>
            <a:pPr indent="0" marL="0">
              <a:lnSpc>
                <a:spcPts val="1610"/>
              </a:lnSpc>
              <a:buNone/>
            </a:pPr>
            <a:r>
              <a:rPr lang="en-US" sz="1400" u="sng" dirty="0">
                <a:solidFill>
                  <a:srgbClr val="1F6556"/>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Ask Photos</a:t>
            </a:r>
            <a:endParaRPr lang="en-US" sz="1400" dirty="0"/>
          </a:p>
        </p:txBody>
      </p:sp>
      <p:sp>
        <p:nvSpPr>
          <p:cNvPr id="8" name="Text 6"/>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06 / 10</a:t>
            </a:r>
            <a:endParaRPr lang="en-US" sz="1400" dirty="0"/>
          </a:p>
        </p:txBody>
      </p:sp>
      <p:sp>
        <p:nvSpPr>
          <p:cNvPr id="9" name="Shape 7"/>
          <p:cNvSpPr/>
          <p:nvPr/>
        </p:nvSpPr>
        <p:spPr>
          <a:xfrm>
            <a:off x="548640" y="2331720"/>
            <a:ext cx="3547872" cy="3538728"/>
          </a:xfrm>
          <a:prstGeom prst="roundRect">
            <a:avLst>
              <a:gd name="adj" fmla="val 3876"/>
            </a:avLst>
          </a:prstGeom>
          <a:solidFill>
            <a:srgbClr val="FFFFFF"/>
          </a:solidFill>
          <a:ln w="12700">
            <a:solidFill>
              <a:srgbClr val="FFFFFF">
                <a:alpha val="0"/>
              </a:srgbClr>
            </a:solidFill>
            <a:prstDash val="solid"/>
          </a:ln>
        </p:spPr>
      </p:sp>
      <p:sp>
        <p:nvSpPr>
          <p:cNvPr id="10" name="Shape 8"/>
          <p:cNvSpPr/>
          <p:nvPr/>
        </p:nvSpPr>
        <p:spPr>
          <a:xfrm>
            <a:off x="4325112" y="2331720"/>
            <a:ext cx="3547872" cy="3538728"/>
          </a:xfrm>
          <a:prstGeom prst="roundRect">
            <a:avLst>
              <a:gd name="adj" fmla="val 3876"/>
            </a:avLst>
          </a:prstGeom>
          <a:solidFill>
            <a:srgbClr val="FFFFFF"/>
          </a:solidFill>
          <a:ln w="12700">
            <a:solidFill>
              <a:srgbClr val="FFFFFF">
                <a:alpha val="0"/>
              </a:srgbClr>
            </a:solidFill>
            <a:prstDash val="solid"/>
          </a:ln>
        </p:spPr>
      </p:sp>
      <p:sp>
        <p:nvSpPr>
          <p:cNvPr id="11" name="Shape 9"/>
          <p:cNvSpPr/>
          <p:nvPr/>
        </p:nvSpPr>
        <p:spPr>
          <a:xfrm>
            <a:off x="8101584" y="2331720"/>
            <a:ext cx="3547872" cy="3538728"/>
          </a:xfrm>
          <a:prstGeom prst="roundRect">
            <a:avLst>
              <a:gd name="adj" fmla="val 3876"/>
            </a:avLst>
          </a:prstGeom>
          <a:solidFill>
            <a:srgbClr val="FFFFFF"/>
          </a:solidFill>
          <a:ln w="12700">
            <a:solidFill>
              <a:srgbClr val="FFFFFF">
                <a:alpha val="0"/>
              </a:srgbClr>
            </a:solidFill>
            <a:prstDash val="solid"/>
          </a:ln>
        </p:spPr>
      </p:sp>
      <p:sp>
        <p:nvSpPr>
          <p:cNvPr id="12" name="Text 10"/>
          <p:cNvSpPr/>
          <p:nvPr/>
        </p:nvSpPr>
        <p:spPr>
          <a:xfrm>
            <a:off x="768096" y="2578608"/>
            <a:ext cx="3108960" cy="228600"/>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01 · KEEP THE MEMORY</a:t>
            </a:r>
            <a:endParaRPr lang="en-US" sz="1400" dirty="0"/>
          </a:p>
        </p:txBody>
      </p:sp>
      <p:sp>
        <p:nvSpPr>
          <p:cNvPr id="13" name="Text 11"/>
          <p:cNvSpPr/>
          <p:nvPr/>
        </p:nvSpPr>
        <p:spPr>
          <a:xfrm>
            <a:off x="768096" y="2980944"/>
            <a:ext cx="3108960" cy="731520"/>
          </a:xfrm>
          <a:prstGeom prst="rect">
            <a:avLst/>
          </a:prstGeom>
          <a:noFill/>
          <a:ln/>
        </p:spPr>
        <p:txBody>
          <a:bodyPr wrap="square" lIns="0" tIns="0" rIns="0" bIns="0" rtlCol="0" anchor="t"/>
          <a:lstStyle/>
          <a:p>
            <a:pPr indent="0" marL="0">
              <a:lnSpc>
                <a:spcPts val="2645"/>
              </a:lnSpc>
              <a:buNone/>
            </a:pPr>
            <a:r>
              <a:rPr lang="en-US" sz="2300" b="1" dirty="0">
                <a:solidFill>
                  <a:srgbClr val="173B36"/>
                </a:solidFill>
                <a:latin typeface="Noto Sans" pitchFamily="34" charset="0"/>
                <a:ea typeface="Noto Sans" pitchFamily="34" charset="-122"/>
                <a:cs typeface="Noto Sans" pitchFamily="34" charset="-120"/>
              </a:rPr>
              <a:t>Separate known</a:t>
            </a:r>
            <a:endParaRPr lang="en-US" sz="2300" dirty="0"/>
          </a:p>
          <a:p>
            <a:pPr indent="0" marL="0">
              <a:lnSpc>
                <a:spcPts val="2645"/>
              </a:lnSpc>
              <a:buNone/>
            </a:pPr>
            <a:r>
              <a:rPr lang="en-US" sz="2300" b="1" dirty="0">
                <a:solidFill>
                  <a:srgbClr val="173B36"/>
                </a:solidFill>
                <a:latin typeface="Noto Sans" pitchFamily="34" charset="0"/>
                <a:ea typeface="Noto Sans" pitchFamily="34" charset="-122"/>
                <a:cs typeface="Noto Sans" pitchFamily="34" charset="-120"/>
              </a:rPr>
              <a:t>from “maybe”</a:t>
            </a:r>
            <a:endParaRPr lang="en-US" sz="2300" dirty="0"/>
          </a:p>
        </p:txBody>
      </p:sp>
      <p:sp>
        <p:nvSpPr>
          <p:cNvPr id="14" name="Shape 12"/>
          <p:cNvSpPr/>
          <p:nvPr/>
        </p:nvSpPr>
        <p:spPr>
          <a:xfrm>
            <a:off x="768096" y="3995928"/>
            <a:ext cx="2788920" cy="347472"/>
          </a:xfrm>
          <a:prstGeom prst="roundRect">
            <a:avLst>
              <a:gd name="adj" fmla="val 39474"/>
            </a:avLst>
          </a:prstGeom>
          <a:solidFill>
            <a:srgbClr val="E4EADC"/>
          </a:solidFill>
          <a:ln w="12700">
            <a:solidFill>
              <a:srgbClr val="E4EADC">
                <a:alpha val="0"/>
              </a:srgbClr>
            </a:solidFill>
            <a:prstDash val="solid"/>
          </a:ln>
        </p:spPr>
      </p:sp>
      <p:sp>
        <p:nvSpPr>
          <p:cNvPr id="15" name="Text 13"/>
          <p:cNvSpPr/>
          <p:nvPr/>
        </p:nvSpPr>
        <p:spPr>
          <a:xfrm>
            <a:off x="877824" y="4046220"/>
            <a:ext cx="2569464"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CERTAIN · blue chairs</a:t>
            </a:r>
            <a:endParaRPr lang="en-US" sz="1400" dirty="0"/>
          </a:p>
        </p:txBody>
      </p:sp>
      <p:sp>
        <p:nvSpPr>
          <p:cNvPr id="16" name="Shape 14"/>
          <p:cNvSpPr/>
          <p:nvPr/>
        </p:nvSpPr>
        <p:spPr>
          <a:xfrm>
            <a:off x="768096" y="4498848"/>
            <a:ext cx="2176272" cy="347472"/>
          </a:xfrm>
          <a:prstGeom prst="roundRect">
            <a:avLst>
              <a:gd name="adj" fmla="val 39474"/>
            </a:avLst>
          </a:prstGeom>
          <a:solidFill>
            <a:srgbClr val="E7CD85"/>
          </a:solidFill>
          <a:ln w="12700">
            <a:solidFill>
              <a:srgbClr val="E7CD85">
                <a:alpha val="0"/>
              </a:srgbClr>
            </a:solidFill>
            <a:prstDash val="solid"/>
          </a:ln>
        </p:spPr>
      </p:sp>
      <p:sp>
        <p:nvSpPr>
          <p:cNvPr id="17" name="Text 15"/>
          <p:cNvSpPr/>
          <p:nvPr/>
        </p:nvSpPr>
        <p:spPr>
          <a:xfrm>
            <a:off x="877824" y="4549140"/>
            <a:ext cx="1956816"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MAYBE · Goa</a:t>
            </a:r>
            <a:endParaRPr lang="en-US" sz="1400" dirty="0"/>
          </a:p>
        </p:txBody>
      </p:sp>
      <p:sp>
        <p:nvSpPr>
          <p:cNvPr id="18" name="Text 16"/>
          <p:cNvSpPr/>
          <p:nvPr/>
        </p:nvSpPr>
        <p:spPr>
          <a:xfrm>
            <a:off x="768096" y="5175504"/>
            <a:ext cx="3108960" cy="493776"/>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Edit, ignore or restore any clue.</a:t>
            </a:r>
            <a:endParaRPr lang="en-US" sz="1600" dirty="0"/>
          </a:p>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Guesses do not exclude images.</a:t>
            </a:r>
            <a:endParaRPr lang="en-US" sz="1600" dirty="0"/>
          </a:p>
        </p:txBody>
      </p:sp>
      <p:sp>
        <p:nvSpPr>
          <p:cNvPr id="19" name="Text 17"/>
          <p:cNvSpPr/>
          <p:nvPr/>
        </p:nvSpPr>
        <p:spPr>
          <a:xfrm>
            <a:off x="4544568" y="2578608"/>
            <a:ext cx="3108960" cy="228600"/>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02 · INSPECT CANDIDATES</a:t>
            </a:r>
            <a:endParaRPr lang="en-US" sz="1400" dirty="0"/>
          </a:p>
        </p:txBody>
      </p:sp>
      <p:pic>
        <p:nvPicPr>
          <p:cNvPr id="20" name="Image 0" descr="/mnt/data/memorytrail_build/p04.png">    </p:cNvPr>
          <p:cNvPicPr>
            <a:picLocks noChangeAspect="1"/>
          </p:cNvPicPr>
          <p:nvPr/>
        </p:nvPicPr>
        <p:blipFill>
          <a:blip r:embed="rId2"/>
          <a:stretch>
            <a:fillRect/>
          </a:stretch>
        </p:blipFill>
        <p:spPr>
          <a:xfrm>
            <a:off x="4544568" y="3017520"/>
            <a:ext cx="3108960" cy="1828800"/>
          </a:xfrm>
          <a:prstGeom prst="rect">
            <a:avLst/>
          </a:prstGeom>
        </p:spPr>
      </p:pic>
      <p:sp>
        <p:nvSpPr>
          <p:cNvPr id="21" name="Text 18"/>
          <p:cNvSpPr/>
          <p:nvPr/>
        </p:nvSpPr>
        <p:spPr>
          <a:xfrm>
            <a:off x="4544568" y="5038344"/>
            <a:ext cx="3108960" cy="365760"/>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Matches: blue chairs</a:t>
            </a:r>
            <a:endParaRPr lang="en-US" sz="1800" dirty="0"/>
          </a:p>
        </p:txBody>
      </p:sp>
      <p:sp>
        <p:nvSpPr>
          <p:cNvPr id="22" name="Text 19"/>
          <p:cNvSpPr/>
          <p:nvPr/>
        </p:nvSpPr>
        <p:spPr>
          <a:xfrm>
            <a:off x="4544568" y="5504688"/>
            <a:ext cx="3108960" cy="210312"/>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Illustration · synthetic metadata</a:t>
            </a:r>
            <a:endParaRPr lang="en-US" sz="1400" dirty="0"/>
          </a:p>
        </p:txBody>
      </p:sp>
      <p:sp>
        <p:nvSpPr>
          <p:cNvPr id="23" name="Text 20"/>
          <p:cNvSpPr/>
          <p:nvPr/>
        </p:nvSpPr>
        <p:spPr>
          <a:xfrm>
            <a:off x="8321040" y="2578608"/>
            <a:ext cx="3108960" cy="228600"/>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03 · RECOVER THE MOMENT</a:t>
            </a:r>
            <a:endParaRPr lang="en-US" sz="1400" dirty="0"/>
          </a:p>
        </p:txBody>
      </p:sp>
      <p:sp>
        <p:nvSpPr>
          <p:cNvPr id="24" name="Text 21"/>
          <p:cNvSpPr/>
          <p:nvPr/>
        </p:nvSpPr>
        <p:spPr>
          <a:xfrm>
            <a:off x="8321040" y="2980944"/>
            <a:ext cx="3108960" cy="731520"/>
          </a:xfrm>
          <a:prstGeom prst="rect">
            <a:avLst/>
          </a:prstGeom>
          <a:noFill/>
          <a:ln/>
        </p:spPr>
        <p:txBody>
          <a:bodyPr wrap="square" lIns="0" tIns="0" rIns="0" bIns="0" rtlCol="0" anchor="t"/>
          <a:lstStyle/>
          <a:p>
            <a:pPr indent="0" marL="0">
              <a:lnSpc>
                <a:spcPts val="2645"/>
              </a:lnSpc>
              <a:buNone/>
            </a:pPr>
            <a:r>
              <a:rPr lang="en-US" sz="2300" b="1" dirty="0">
                <a:solidFill>
                  <a:srgbClr val="173B36"/>
                </a:solidFill>
                <a:latin typeface="Noto Sans" pitchFamily="34" charset="0"/>
                <a:ea typeface="Noto Sans" pitchFamily="34" charset="-122"/>
                <a:cs typeface="Noto Sans" pitchFamily="34" charset="-120"/>
              </a:rPr>
              <a:t>Explore nearby,</a:t>
            </a:r>
            <a:endParaRPr lang="en-US" sz="2300" dirty="0"/>
          </a:p>
          <a:p>
            <a:pPr indent="0" marL="0">
              <a:lnSpc>
                <a:spcPts val="2645"/>
              </a:lnSpc>
              <a:buNone/>
            </a:pPr>
            <a:r>
              <a:rPr lang="en-US" sz="2300" b="1" dirty="0">
                <a:solidFill>
                  <a:srgbClr val="173B36"/>
                </a:solidFill>
                <a:latin typeface="Noto Sans" pitchFamily="34" charset="0"/>
                <a:ea typeface="Noto Sans" pitchFamily="34" charset="-122"/>
                <a:cs typeface="Noto Sans" pitchFamily="34" charset="-120"/>
              </a:rPr>
              <a:t>then confirm</a:t>
            </a:r>
            <a:endParaRPr lang="en-US" sz="2300" dirty="0"/>
          </a:p>
        </p:txBody>
      </p:sp>
      <p:sp>
        <p:nvSpPr>
          <p:cNvPr id="25" name="Text 22"/>
          <p:cNvSpPr/>
          <p:nvPr/>
        </p:nvSpPr>
        <p:spPr>
          <a:xfrm>
            <a:off x="8321040" y="4032504"/>
            <a:ext cx="3108960" cy="941832"/>
          </a:xfrm>
          <a:prstGeom prst="rect">
            <a:avLst/>
          </a:prstGeom>
          <a:noFill/>
          <a:ln/>
        </p:spPr>
        <p:txBody>
          <a:bodyPr wrap="square" lIns="0" tIns="0" rIns="0" bIns="0" rtlCol="0" anchor="t"/>
          <a:lstStyle/>
          <a:p>
            <a:pPr indent="0" marL="0">
              <a:lnSpc>
                <a:spcPts val="2070"/>
              </a:lnSpc>
              <a:buNone/>
            </a:pPr>
            <a:r>
              <a:rPr lang="en-US" sz="1800" dirty="0">
                <a:solidFill>
                  <a:srgbClr val="334D47"/>
                </a:solidFill>
                <a:latin typeface="Noto Sans" pitchFamily="34" charset="0"/>
                <a:ea typeface="Noto Sans" pitchFamily="34" charset="-122"/>
                <a:cs typeface="Noto Sans" pitchFamily="34" charset="-120"/>
              </a:rPr>
              <a:t>Open photos from the same known event. Reject a wrong match, undo, or answer one clarifying question.</a:t>
            </a:r>
            <a:endParaRPr lang="en-US" sz="1800" dirty="0"/>
          </a:p>
        </p:txBody>
      </p:sp>
      <p:sp>
        <p:nvSpPr>
          <p:cNvPr id="26" name="Shape 23"/>
          <p:cNvSpPr/>
          <p:nvPr/>
        </p:nvSpPr>
        <p:spPr>
          <a:xfrm>
            <a:off x="8321040" y="5376672"/>
            <a:ext cx="2880360" cy="347472"/>
          </a:xfrm>
          <a:prstGeom prst="roundRect">
            <a:avLst>
              <a:gd name="adj" fmla="val 39474"/>
            </a:avLst>
          </a:prstGeom>
          <a:solidFill>
            <a:srgbClr val="F4EBCF"/>
          </a:solidFill>
          <a:ln w="12700">
            <a:solidFill>
              <a:srgbClr val="F4EBCF">
                <a:alpha val="0"/>
              </a:srgbClr>
            </a:solidFill>
            <a:prstDash val="solid"/>
          </a:ln>
        </p:spPr>
      </p:sp>
      <p:sp>
        <p:nvSpPr>
          <p:cNvPr id="27" name="Text 24"/>
          <p:cNvSpPr/>
          <p:nvPr/>
        </p:nvSpPr>
        <p:spPr>
          <a:xfrm>
            <a:off x="8430768" y="5426964"/>
            <a:ext cx="2660904" cy="237744"/>
          </a:xfrm>
          <a:prstGeom prst="rect">
            <a:avLst/>
          </a:prstGeom>
          <a:noFill/>
          <a:ln/>
        </p:spPr>
        <p:txBody>
          <a:bodyPr wrap="square" lIns="0" tIns="0" rIns="0" bIns="0" rtlCol="0" anchor="t"/>
          <a:lstStyle/>
          <a:p>
            <a:pPr indent="0" marL="0">
              <a:lnSpc>
                <a:spcPts val="1610"/>
              </a:lnSpc>
              <a:buNone/>
            </a:pPr>
            <a:r>
              <a:rPr lang="en-US" sz="1400" b="1" dirty="0">
                <a:solidFill>
                  <a:srgbClr val="173B36"/>
                </a:solidFill>
                <a:latin typeface="Noto Sans" pitchFamily="34" charset="0"/>
                <a:ea typeface="Noto Sans" pitchFamily="34" charset="-122"/>
                <a:cs typeface="Noto Sans" pitchFamily="34" charset="-120"/>
              </a:rPr>
              <a:t>NOT SURE is always valid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WORKING PROTOTYPE / IMPLEMENTATION</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The MVP preserves alternatives and makes recovery reversible.</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A self-contained demo runs now; the server-side AI path still requires live verification.</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a:hlinkClick r:id="rId1" tooltip=""/>
          </p:cNvPr>
          <p:cNvSpPr/>
          <p:nvPr/>
        </p:nvSpPr>
        <p:spPr>
          <a:xfrm>
            <a:off x="8321040" y="6473952"/>
            <a:ext cx="1124712" cy="201168"/>
          </a:xfrm>
          <a:prstGeom prst="rect">
            <a:avLst/>
          </a:prstGeom>
          <a:noFill/>
          <a:ln/>
        </p:spPr>
        <p:txBody>
          <a:bodyPr wrap="square" lIns="0" tIns="0" rIns="0" bIns="0" rtlCol="0" anchor="t"/>
          <a:lstStyle/>
          <a:p>
            <a:pPr indent="0" marL="0">
              <a:lnSpc>
                <a:spcPts val="1610"/>
              </a:lnSpc>
              <a:buNone/>
            </a:pPr>
            <a:r>
              <a:rPr lang="en-US" sz="1400" u="sng" dirty="0">
                <a:solidFill>
                  <a:srgbClr val="1F6556"/>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API scope</a:t>
            </a:r>
            <a:endParaRPr lang="en-US" sz="1400" dirty="0"/>
          </a:p>
        </p:txBody>
      </p:sp>
      <p:sp>
        <p:nvSpPr>
          <p:cNvPr id="8" name="Text 6">
            <a:hlinkClick r:id="rId2" tooltip=""/>
          </p:cNvPr>
          <p:cNvSpPr/>
          <p:nvPr/>
        </p:nvSpPr>
        <p:spPr>
          <a:xfrm>
            <a:off x="9482328" y="6473952"/>
            <a:ext cx="1124712" cy="201168"/>
          </a:xfrm>
          <a:prstGeom prst="rect">
            <a:avLst/>
          </a:prstGeom>
          <a:noFill/>
          <a:ln/>
        </p:spPr>
        <p:txBody>
          <a:bodyPr wrap="square" lIns="0" tIns="0" rIns="0" bIns="0" rtlCol="0" anchor="t"/>
          <a:lstStyle/>
          <a:p>
            <a:pPr indent="0" marL="0">
              <a:lnSpc>
                <a:spcPts val="1610"/>
              </a:lnSpc>
              <a:buNone/>
            </a:pPr>
            <a:r>
              <a:rPr lang="en-US" sz="1400" u="sng" dirty="0">
                <a:solidFill>
                  <a:srgbClr val="1F6556"/>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 schema</a:t>
            </a:r>
            <a:endParaRPr lang="en-US" sz="1400" dirty="0"/>
          </a:p>
        </p:txBody>
      </p:sp>
      <p:sp>
        <p:nvSpPr>
          <p:cNvPr id="9" name="Text 7"/>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07 / 10</a:t>
            </a:r>
            <a:endParaRPr lang="en-US" sz="1400" dirty="0"/>
          </a:p>
        </p:txBody>
      </p:sp>
      <p:sp>
        <p:nvSpPr>
          <p:cNvPr id="10" name="Shape 8"/>
          <p:cNvSpPr/>
          <p:nvPr/>
        </p:nvSpPr>
        <p:spPr>
          <a:xfrm>
            <a:off x="548640" y="2331720"/>
            <a:ext cx="5422392" cy="2697480"/>
          </a:xfrm>
          <a:prstGeom prst="roundRect">
            <a:avLst>
              <a:gd name="adj" fmla="val 5085"/>
            </a:avLst>
          </a:prstGeom>
          <a:solidFill>
            <a:srgbClr val="E4EADC"/>
          </a:solidFill>
          <a:ln w="12700">
            <a:solidFill>
              <a:srgbClr val="E4EADC">
                <a:alpha val="0"/>
              </a:srgbClr>
            </a:solidFill>
            <a:prstDash val="solid"/>
          </a:ln>
        </p:spPr>
      </p:sp>
      <p:sp>
        <p:nvSpPr>
          <p:cNvPr id="11" name="Text 9"/>
          <p:cNvSpPr/>
          <p:nvPr/>
        </p:nvSpPr>
        <p:spPr>
          <a:xfrm>
            <a:off x="768096" y="2542032"/>
            <a:ext cx="4983480"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RUNS WITHOUT SETUP</a:t>
            </a:r>
            <a:endParaRPr lang="en-US" sz="1400" dirty="0"/>
          </a:p>
        </p:txBody>
      </p:sp>
      <p:sp>
        <p:nvSpPr>
          <p:cNvPr id="12" name="Text 10"/>
          <p:cNvSpPr/>
          <p:nvPr/>
        </p:nvSpPr>
        <p:spPr>
          <a:xfrm>
            <a:off x="768096" y="2990088"/>
            <a:ext cx="4983480" cy="694944"/>
          </a:xfrm>
          <a:prstGeom prst="rect">
            <a:avLst/>
          </a:prstGeom>
          <a:noFill/>
          <a:ln/>
        </p:spPr>
        <p:txBody>
          <a:bodyPr wrap="square" lIns="0" tIns="0" rIns="0" bIns="0" rtlCol="0" anchor="t"/>
          <a:lstStyle/>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Illustrated retrieval + Evidence Lab</a:t>
            </a:r>
            <a:endParaRPr lang="en-US" sz="2200" dirty="0"/>
          </a:p>
        </p:txBody>
      </p:sp>
      <p:sp>
        <p:nvSpPr>
          <p:cNvPr id="13" name="Text 11"/>
          <p:cNvSpPr/>
          <p:nvPr/>
        </p:nvSpPr>
        <p:spPr>
          <a:xfrm>
            <a:off x="768096" y="3803904"/>
            <a:ext cx="4983480" cy="1078992"/>
          </a:xfrm>
          <a:prstGeom prst="rect">
            <a:avLst/>
          </a:prstGeom>
          <a:noFill/>
          <a:ln/>
        </p:spPr>
        <p:txBody>
          <a:bodyPr wrap="square" lIns="0" tIns="0" rIns="0" bIns="0" rtlCol="0" anchor="t"/>
          <a:lstStyle/>
          <a:p>
            <a:pPr indent="0" marL="0">
              <a:lnSpc>
                <a:spcPts val="1955"/>
              </a:lnSpc>
              <a:buNone/>
            </a:pPr>
            <a:r>
              <a:rPr lang="en-US" sz="1700" dirty="0">
                <a:solidFill>
                  <a:srgbClr val="334D47"/>
                </a:solidFill>
                <a:latin typeface="Noto Sans" pitchFamily="34" charset="0"/>
                <a:ea typeface="Noto Sans" pitchFamily="34" charset="-122"/>
                <a:cs typeface="Noto Sans" pitchFamily="34" charset="-120"/>
              </a:rPr>
              <a:t>Clue editing · soft guesses · reject / undo · known-event traversal · source review · session export</a:t>
            </a:r>
            <a:endParaRPr lang="en-US" sz="1700" dirty="0"/>
          </a:p>
        </p:txBody>
      </p:sp>
      <p:sp>
        <p:nvSpPr>
          <p:cNvPr id="14" name="Shape 12"/>
          <p:cNvSpPr/>
          <p:nvPr/>
        </p:nvSpPr>
        <p:spPr>
          <a:xfrm>
            <a:off x="6227064" y="2331720"/>
            <a:ext cx="5422392" cy="2697480"/>
          </a:xfrm>
          <a:prstGeom prst="roundRect">
            <a:avLst>
              <a:gd name="adj" fmla="val 5085"/>
            </a:avLst>
          </a:prstGeom>
          <a:solidFill>
            <a:srgbClr val="FFFFFF"/>
          </a:solidFill>
          <a:ln w="12700">
            <a:solidFill>
              <a:srgbClr val="FFFFFF">
                <a:alpha val="0"/>
              </a:srgbClr>
            </a:solidFill>
            <a:prstDash val="solid"/>
          </a:ln>
        </p:spPr>
      </p:sp>
      <p:sp>
        <p:nvSpPr>
          <p:cNvPr id="15" name="Text 13"/>
          <p:cNvSpPr/>
          <p:nvPr/>
        </p:nvSpPr>
        <p:spPr>
          <a:xfrm>
            <a:off x="6446520" y="2542032"/>
            <a:ext cx="4983480" cy="256032"/>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IMPLEMENTED, NOT LIVE-TESTED</a:t>
            </a:r>
            <a:endParaRPr lang="en-US" sz="1400" dirty="0"/>
          </a:p>
        </p:txBody>
      </p:sp>
      <p:sp>
        <p:nvSpPr>
          <p:cNvPr id="16" name="Text 14"/>
          <p:cNvSpPr/>
          <p:nvPr/>
        </p:nvSpPr>
        <p:spPr>
          <a:xfrm>
            <a:off x="6446520" y="2990088"/>
            <a:ext cx="4983480" cy="694944"/>
          </a:xfrm>
          <a:prstGeom prst="rect">
            <a:avLst/>
          </a:prstGeom>
          <a:noFill/>
          <a:ln/>
        </p:spPr>
        <p:txBody>
          <a:bodyPr wrap="square" lIns="0" tIns="0" rIns="0" bIns="0" rtlCol="0" anchor="t"/>
          <a:lstStyle/>
          <a:p>
            <a:pPr indent="0" marL="0">
              <a:lnSpc>
                <a:spcPts val="2530"/>
              </a:lnSpc>
              <a:buNone/>
            </a:pPr>
            <a:r>
              <a:rPr lang="en-US" sz="2200" b="1" dirty="0">
                <a:solidFill>
                  <a:srgbClr val="173B36"/>
                </a:solidFill>
                <a:latin typeface="Noto Sans" pitchFamily="34" charset="0"/>
                <a:ea typeface="Noto Sans" pitchFamily="34" charset="-122"/>
                <a:cs typeface="Noto Sans" pitchFamily="34" charset="-120"/>
              </a:rPr>
              <a:t>Selected images → Gemini → candidates</a:t>
            </a:r>
            <a:endParaRPr lang="en-US" sz="2200" dirty="0"/>
          </a:p>
        </p:txBody>
      </p:sp>
      <p:sp>
        <p:nvSpPr>
          <p:cNvPr id="17" name="Text 15"/>
          <p:cNvSpPr/>
          <p:nvPr/>
        </p:nvSpPr>
        <p:spPr>
          <a:xfrm>
            <a:off x="6446520" y="3803904"/>
            <a:ext cx="4983480" cy="1078992"/>
          </a:xfrm>
          <a:prstGeom prst="rect">
            <a:avLst/>
          </a:prstGeom>
          <a:noFill/>
          <a:ln/>
        </p:spPr>
        <p:txBody>
          <a:bodyPr wrap="square" lIns="0" tIns="0" rIns="0" bIns="0" rtlCol="0" anchor="t"/>
          <a:lstStyle/>
          <a:p>
            <a:pPr indent="0" marL="0">
              <a:lnSpc>
                <a:spcPts val="1955"/>
              </a:lnSpc>
              <a:buNone/>
            </a:pPr>
            <a:r>
              <a:rPr lang="en-US" sz="1700" dirty="0">
                <a:solidFill>
                  <a:srgbClr val="334D47"/>
                </a:solidFill>
                <a:latin typeface="Noto Sans" pitchFamily="34" charset="0"/>
                <a:ea typeface="Noto Sans" pitchFamily="34" charset="-122"/>
                <a:cs typeface="Noto Sans" pitchFamily="34" charset="-120"/>
              </a:rPr>
              <a:t>Image captioning, structured clues and reranking. Private images are selected explicitly; no full-library integration.</a:t>
            </a:r>
            <a:endParaRPr lang="en-US" sz="1700" dirty="0"/>
          </a:p>
        </p:txBody>
      </p:sp>
      <p:sp>
        <p:nvSpPr>
          <p:cNvPr id="18" name="Text 16"/>
          <p:cNvSpPr/>
          <p:nvPr/>
        </p:nvSpPr>
        <p:spPr>
          <a:xfrm>
            <a:off x="548640" y="5294376"/>
            <a:ext cx="832104" cy="557784"/>
          </a:xfrm>
          <a:prstGeom prst="rect">
            <a:avLst/>
          </a:prstGeom>
          <a:noFill/>
          <a:ln/>
        </p:spPr>
        <p:txBody>
          <a:bodyPr wrap="square" lIns="0" tIns="0" rIns="0" bIns="0" rtlCol="0" anchor="t"/>
          <a:lstStyle/>
          <a:p>
            <a:pPr indent="0" marL="0">
              <a:lnSpc>
                <a:spcPts val="3910"/>
              </a:lnSpc>
              <a:buNone/>
            </a:pPr>
            <a:r>
              <a:rPr lang="en-US" sz="3400" b="1" dirty="0">
                <a:solidFill>
                  <a:srgbClr val="1F6556"/>
                </a:solidFill>
                <a:latin typeface="Noto Sans" pitchFamily="34" charset="0"/>
                <a:ea typeface="Noto Sans" pitchFamily="34" charset="-122"/>
                <a:cs typeface="Noto Sans" pitchFamily="34" charset="-120"/>
              </a:rPr>
              <a:t>22</a:t>
            </a:r>
            <a:endParaRPr lang="en-US" sz="3400" dirty="0"/>
          </a:p>
        </p:txBody>
      </p:sp>
      <p:sp>
        <p:nvSpPr>
          <p:cNvPr id="19" name="Text 17"/>
          <p:cNvSpPr/>
          <p:nvPr/>
        </p:nvSpPr>
        <p:spPr>
          <a:xfrm>
            <a:off x="1490472" y="5321808"/>
            <a:ext cx="2441448" cy="274320"/>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unit tests</a:t>
            </a:r>
            <a:endParaRPr lang="en-US" sz="1800" dirty="0"/>
          </a:p>
        </p:txBody>
      </p:sp>
      <p:sp>
        <p:nvSpPr>
          <p:cNvPr id="20" name="Text 18"/>
          <p:cNvSpPr/>
          <p:nvPr/>
        </p:nvSpPr>
        <p:spPr>
          <a:xfrm>
            <a:off x="1490472" y="5715000"/>
            <a:ext cx="2587752" cy="365760"/>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including mocked provider output</a:t>
            </a:r>
            <a:endParaRPr lang="en-US" sz="1400" dirty="0"/>
          </a:p>
        </p:txBody>
      </p:sp>
      <p:sp>
        <p:nvSpPr>
          <p:cNvPr id="21" name="Text 19"/>
          <p:cNvSpPr/>
          <p:nvPr/>
        </p:nvSpPr>
        <p:spPr>
          <a:xfrm>
            <a:off x="4325112" y="5294376"/>
            <a:ext cx="832104" cy="557784"/>
          </a:xfrm>
          <a:prstGeom prst="rect">
            <a:avLst/>
          </a:prstGeom>
          <a:noFill/>
          <a:ln/>
        </p:spPr>
        <p:txBody>
          <a:bodyPr wrap="square" lIns="0" tIns="0" rIns="0" bIns="0" rtlCol="0" anchor="t"/>
          <a:lstStyle/>
          <a:p>
            <a:pPr indent="0" marL="0">
              <a:lnSpc>
                <a:spcPts val="3910"/>
              </a:lnSpc>
              <a:buNone/>
            </a:pPr>
            <a:r>
              <a:rPr lang="en-US" sz="3400" b="1" dirty="0">
                <a:solidFill>
                  <a:srgbClr val="1F6556"/>
                </a:solidFill>
                <a:latin typeface="Noto Sans" pitchFamily="34" charset="0"/>
                <a:ea typeface="Noto Sans" pitchFamily="34" charset="-122"/>
                <a:cs typeface="Noto Sans" pitchFamily="34" charset="-120"/>
              </a:rPr>
              <a:t>11</a:t>
            </a:r>
            <a:endParaRPr lang="en-US" sz="3400" dirty="0"/>
          </a:p>
        </p:txBody>
      </p:sp>
      <p:sp>
        <p:nvSpPr>
          <p:cNvPr id="22" name="Text 20"/>
          <p:cNvSpPr/>
          <p:nvPr/>
        </p:nvSpPr>
        <p:spPr>
          <a:xfrm>
            <a:off x="5266944" y="5321808"/>
            <a:ext cx="2441448" cy="274320"/>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browser checks</a:t>
            </a:r>
            <a:endParaRPr lang="en-US" sz="1800" dirty="0"/>
          </a:p>
        </p:txBody>
      </p:sp>
      <p:sp>
        <p:nvSpPr>
          <p:cNvPr id="23" name="Text 21"/>
          <p:cNvSpPr/>
          <p:nvPr/>
        </p:nvSpPr>
        <p:spPr>
          <a:xfrm>
            <a:off x="5266944" y="5715000"/>
            <a:ext cx="2587752" cy="365760"/>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standalone interaction flows</a:t>
            </a:r>
            <a:endParaRPr lang="en-US" sz="1400" dirty="0"/>
          </a:p>
        </p:txBody>
      </p:sp>
      <p:sp>
        <p:nvSpPr>
          <p:cNvPr id="24" name="Text 22"/>
          <p:cNvSpPr/>
          <p:nvPr/>
        </p:nvSpPr>
        <p:spPr>
          <a:xfrm>
            <a:off x="8101584" y="5294376"/>
            <a:ext cx="832104" cy="557784"/>
          </a:xfrm>
          <a:prstGeom prst="rect">
            <a:avLst/>
          </a:prstGeom>
          <a:noFill/>
          <a:ln/>
        </p:spPr>
        <p:txBody>
          <a:bodyPr wrap="square" lIns="0" tIns="0" rIns="0" bIns="0" rtlCol="0" anchor="t"/>
          <a:lstStyle/>
          <a:p>
            <a:pPr indent="0" marL="0">
              <a:lnSpc>
                <a:spcPts val="3910"/>
              </a:lnSpc>
              <a:buNone/>
            </a:pPr>
            <a:r>
              <a:rPr lang="en-US" sz="3400" b="1" dirty="0">
                <a:solidFill>
                  <a:srgbClr val="1F6556"/>
                </a:solidFill>
                <a:latin typeface="Noto Sans" pitchFamily="34" charset="0"/>
                <a:ea typeface="Noto Sans" pitchFamily="34" charset="-122"/>
                <a:cs typeface="Noto Sans" pitchFamily="34" charset="-120"/>
              </a:rPr>
              <a:t>7</a:t>
            </a:r>
            <a:endParaRPr lang="en-US" sz="3400" dirty="0"/>
          </a:p>
        </p:txBody>
      </p:sp>
      <p:sp>
        <p:nvSpPr>
          <p:cNvPr id="25" name="Text 23"/>
          <p:cNvSpPr/>
          <p:nvPr/>
        </p:nvSpPr>
        <p:spPr>
          <a:xfrm>
            <a:off x="9043416" y="5321808"/>
            <a:ext cx="2441448" cy="274320"/>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HTTP smoke checks</a:t>
            </a:r>
            <a:endParaRPr lang="en-US" sz="1800" dirty="0"/>
          </a:p>
        </p:txBody>
      </p:sp>
      <p:sp>
        <p:nvSpPr>
          <p:cNvPr id="26" name="Text 24"/>
          <p:cNvSpPr/>
          <p:nvPr/>
        </p:nvSpPr>
        <p:spPr>
          <a:xfrm>
            <a:off x="9043416" y="5715000"/>
            <a:ext cx="2587752" cy="365760"/>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local server; no model key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MVP TESTING PLAN</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Three user tests must challenge the hypothesis, not confirm it.</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Return to at least 3 target-segment users. Completed participant tests: 0.</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08 / 10</a:t>
            </a:r>
            <a:endParaRPr lang="en-US" sz="1400" dirty="0"/>
          </a:p>
        </p:txBody>
      </p:sp>
      <p:sp>
        <p:nvSpPr>
          <p:cNvPr id="8" name="Shape 6"/>
          <p:cNvSpPr/>
          <p:nvPr/>
        </p:nvSpPr>
        <p:spPr>
          <a:xfrm>
            <a:off x="548640" y="2331720"/>
            <a:ext cx="6958584" cy="932688"/>
          </a:xfrm>
          <a:prstGeom prst="roundRect">
            <a:avLst>
              <a:gd name="adj" fmla="val 14706"/>
            </a:avLst>
          </a:prstGeom>
          <a:solidFill>
            <a:srgbClr val="FFFFFF"/>
          </a:solidFill>
          <a:ln w="12700">
            <a:solidFill>
              <a:srgbClr val="FFFFFF">
                <a:alpha val="0"/>
              </a:srgbClr>
            </a:solidFill>
            <a:prstDash val="solid"/>
          </a:ln>
        </p:spPr>
      </p:sp>
      <p:sp>
        <p:nvSpPr>
          <p:cNvPr id="9" name="Text 7"/>
          <p:cNvSpPr/>
          <p:nvPr/>
        </p:nvSpPr>
        <p:spPr>
          <a:xfrm>
            <a:off x="786384" y="2496312"/>
            <a:ext cx="2404872" cy="493776"/>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1 · Observe the baseline</a:t>
            </a:r>
            <a:endParaRPr lang="en-US" sz="1800" dirty="0"/>
          </a:p>
        </p:txBody>
      </p:sp>
      <p:sp>
        <p:nvSpPr>
          <p:cNvPr id="10" name="Text 8"/>
          <p:cNvSpPr/>
          <p:nvPr/>
        </p:nvSpPr>
        <p:spPr>
          <a:xfrm>
            <a:off x="3410712" y="2487168"/>
            <a:ext cx="3813048" cy="548640"/>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Watch a real Google Photos attempt first. Record the account / version, target availability and failure point.</a:t>
            </a:r>
            <a:endParaRPr lang="en-US" sz="1600" dirty="0"/>
          </a:p>
        </p:txBody>
      </p:sp>
      <p:sp>
        <p:nvSpPr>
          <p:cNvPr id="11" name="Shape 9"/>
          <p:cNvSpPr/>
          <p:nvPr/>
        </p:nvSpPr>
        <p:spPr>
          <a:xfrm>
            <a:off x="548640" y="3364992"/>
            <a:ext cx="6958584" cy="932688"/>
          </a:xfrm>
          <a:prstGeom prst="roundRect">
            <a:avLst>
              <a:gd name="adj" fmla="val 14706"/>
            </a:avLst>
          </a:prstGeom>
          <a:solidFill>
            <a:srgbClr val="E4EADC"/>
          </a:solidFill>
          <a:ln w="12700">
            <a:solidFill>
              <a:srgbClr val="E4EADC">
                <a:alpha val="0"/>
              </a:srgbClr>
            </a:solidFill>
            <a:prstDash val="solid"/>
          </a:ln>
        </p:spPr>
      </p:sp>
      <p:sp>
        <p:nvSpPr>
          <p:cNvPr id="12" name="Text 10"/>
          <p:cNvSpPr/>
          <p:nvPr/>
        </p:nvSpPr>
        <p:spPr>
          <a:xfrm>
            <a:off x="786384" y="3529584"/>
            <a:ext cx="2404872" cy="493776"/>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2 · Test the mechanism</a:t>
            </a:r>
            <a:endParaRPr lang="en-US" sz="1800" dirty="0"/>
          </a:p>
        </p:txBody>
      </p:sp>
      <p:sp>
        <p:nvSpPr>
          <p:cNvPr id="13" name="Text 11"/>
          <p:cNvSpPr/>
          <p:nvPr/>
        </p:nvSpPr>
        <p:spPr>
          <a:xfrm>
            <a:off x="3410712" y="3520440"/>
            <a:ext cx="3813048" cy="548640"/>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Use a consented, controlled photo subset. Rotate different matched targets and counterbalance conditions.</a:t>
            </a:r>
            <a:endParaRPr lang="en-US" sz="1600" dirty="0"/>
          </a:p>
        </p:txBody>
      </p:sp>
      <p:sp>
        <p:nvSpPr>
          <p:cNvPr id="14" name="Shape 12"/>
          <p:cNvSpPr/>
          <p:nvPr/>
        </p:nvSpPr>
        <p:spPr>
          <a:xfrm>
            <a:off x="548640" y="4398264"/>
            <a:ext cx="6958584" cy="932688"/>
          </a:xfrm>
          <a:prstGeom prst="roundRect">
            <a:avLst>
              <a:gd name="adj" fmla="val 14706"/>
            </a:avLst>
          </a:prstGeom>
          <a:solidFill>
            <a:srgbClr val="FFFFFF"/>
          </a:solidFill>
          <a:ln w="12700">
            <a:solidFill>
              <a:srgbClr val="FFFFFF">
                <a:alpha val="0"/>
              </a:srgbClr>
            </a:solidFill>
            <a:prstDash val="solid"/>
          </a:ln>
        </p:spPr>
      </p:sp>
      <p:sp>
        <p:nvSpPr>
          <p:cNvPr id="15" name="Text 13"/>
          <p:cNvSpPr/>
          <p:nvPr/>
        </p:nvSpPr>
        <p:spPr>
          <a:xfrm>
            <a:off x="786384" y="4562856"/>
            <a:ext cx="2404872" cy="493776"/>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3 · Verify the outcome</a:t>
            </a:r>
            <a:endParaRPr lang="en-US" sz="1800" dirty="0"/>
          </a:p>
        </p:txBody>
      </p:sp>
      <p:sp>
        <p:nvSpPr>
          <p:cNvPr id="16" name="Text 14"/>
          <p:cNvSpPr/>
          <p:nvPr/>
        </p:nvSpPr>
        <p:spPr>
          <a:xfrm>
            <a:off x="3410712" y="4553712"/>
            <a:ext cx="3813048" cy="548640"/>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Verify the target independently. Record time, errors, recovery actions and the user’s explanation.</a:t>
            </a:r>
            <a:endParaRPr lang="en-US" sz="1600" dirty="0"/>
          </a:p>
        </p:txBody>
      </p:sp>
      <p:sp>
        <p:nvSpPr>
          <p:cNvPr id="17" name="Shape 15"/>
          <p:cNvSpPr/>
          <p:nvPr/>
        </p:nvSpPr>
        <p:spPr>
          <a:xfrm>
            <a:off x="7799832" y="2331720"/>
            <a:ext cx="3849624" cy="2916936"/>
          </a:xfrm>
          <a:prstGeom prst="roundRect">
            <a:avLst>
              <a:gd name="adj" fmla="val 4702"/>
            </a:avLst>
          </a:prstGeom>
          <a:solidFill>
            <a:srgbClr val="173B36"/>
          </a:solidFill>
          <a:ln w="12700">
            <a:solidFill>
              <a:srgbClr val="173B36">
                <a:alpha val="0"/>
              </a:srgbClr>
            </a:solidFill>
            <a:prstDash val="solid"/>
          </a:ln>
        </p:spPr>
      </p:sp>
      <p:sp>
        <p:nvSpPr>
          <p:cNvPr id="18" name="Text 16"/>
          <p:cNvSpPr/>
          <p:nvPr/>
        </p:nvSpPr>
        <p:spPr>
          <a:xfrm>
            <a:off x="8037576" y="2596896"/>
            <a:ext cx="3364992" cy="237744"/>
          </a:xfrm>
          <a:prstGeom prst="rect">
            <a:avLst/>
          </a:prstGeom>
          <a:noFill/>
          <a:ln/>
        </p:spPr>
        <p:txBody>
          <a:bodyPr wrap="square" lIns="0" tIns="0" rIns="0" bIns="0" rtlCol="0" anchor="t"/>
          <a:lstStyle/>
          <a:p>
            <a:pPr indent="0" marL="0">
              <a:lnSpc>
                <a:spcPts val="1610"/>
              </a:lnSpc>
              <a:buNone/>
            </a:pPr>
            <a:r>
              <a:rPr lang="en-US" sz="1400" b="1" dirty="0">
                <a:solidFill>
                  <a:srgbClr val="DDE8D8"/>
                </a:solidFill>
                <a:latin typeface="Noto Sans" pitchFamily="34" charset="0"/>
                <a:ea typeface="Noto Sans" pitchFamily="34" charset="-122"/>
                <a:cs typeface="Noto Sans" pitchFamily="34" charset="-120"/>
              </a:rPr>
              <a:t>PROPOSED PILOT GATE</a:t>
            </a:r>
            <a:endParaRPr lang="en-US" sz="1400" dirty="0"/>
          </a:p>
        </p:txBody>
      </p:sp>
      <p:sp>
        <p:nvSpPr>
          <p:cNvPr id="19" name="Text 17"/>
          <p:cNvSpPr/>
          <p:nvPr/>
        </p:nvSpPr>
        <p:spPr>
          <a:xfrm>
            <a:off x="8037576" y="3136392"/>
            <a:ext cx="3319272" cy="950976"/>
          </a:xfrm>
          <a:prstGeom prst="rect">
            <a:avLst/>
          </a:prstGeom>
          <a:noFill/>
          <a:ln/>
        </p:spPr>
        <p:txBody>
          <a:bodyPr wrap="square" lIns="0" tIns="0" rIns="0" bIns="0" rtlCol="0" anchor="t"/>
          <a:lstStyle/>
          <a:p>
            <a:pPr indent="0" marL="0">
              <a:lnSpc>
                <a:spcPts val="2875"/>
              </a:lnSpc>
              <a:buNone/>
            </a:pPr>
            <a:r>
              <a:rPr lang="en-US" sz="2500" b="1" dirty="0">
                <a:solidFill>
                  <a:srgbClr val="FFFFFF"/>
                </a:solidFill>
                <a:latin typeface="Noto Sans" pitchFamily="34" charset="0"/>
                <a:ea typeface="Noto Sans" pitchFamily="34" charset="-122"/>
                <a:cs typeface="Noto Sans" pitchFamily="34" charset="-120"/>
              </a:rPr>
              <a:t>2 of 3 unaided</a:t>
            </a:r>
            <a:endParaRPr lang="en-US" sz="2500" dirty="0"/>
          </a:p>
          <a:p>
            <a:pPr indent="0" marL="0">
              <a:lnSpc>
                <a:spcPts val="2875"/>
              </a:lnSpc>
              <a:buNone/>
            </a:pPr>
            <a:r>
              <a:rPr lang="en-US" sz="2500" b="1" dirty="0">
                <a:solidFill>
                  <a:srgbClr val="FFFFFF"/>
                </a:solidFill>
                <a:latin typeface="Noto Sans" pitchFamily="34" charset="0"/>
                <a:ea typeface="Noto Sans" pitchFamily="34" charset="-122"/>
                <a:cs typeface="Noto Sans" pitchFamily="34" charset="-120"/>
              </a:rPr>
              <a:t>0 false verified successes</a:t>
            </a:r>
            <a:endParaRPr lang="en-US" sz="2500" dirty="0"/>
          </a:p>
        </p:txBody>
      </p:sp>
      <p:sp>
        <p:nvSpPr>
          <p:cNvPr id="20" name="Text 18"/>
          <p:cNvSpPr/>
          <p:nvPr/>
        </p:nvSpPr>
        <p:spPr>
          <a:xfrm>
            <a:off x="8037576" y="4352544"/>
            <a:ext cx="3346704" cy="521208"/>
          </a:xfrm>
          <a:prstGeom prst="rect">
            <a:avLst/>
          </a:prstGeom>
          <a:noFill/>
          <a:ln/>
        </p:spPr>
        <p:txBody>
          <a:bodyPr wrap="square" lIns="0" tIns="0" rIns="0" bIns="0" rtlCol="0" anchor="t"/>
          <a:lstStyle/>
          <a:p>
            <a:pPr indent="0" marL="0">
              <a:lnSpc>
                <a:spcPts val="1955"/>
              </a:lnSpc>
              <a:buNone/>
            </a:pPr>
            <a:r>
              <a:rPr lang="en-US" sz="1700" dirty="0">
                <a:solidFill>
                  <a:srgbClr val="DDE8D8"/>
                </a:solidFill>
                <a:latin typeface="Noto Sans" pitchFamily="34" charset="0"/>
                <a:ea typeface="Noto Sans" pitchFamily="34" charset="-122"/>
                <a:cs typeface="Noto Sans" pitchFamily="34" charset="-120"/>
              </a:rPr>
              <a:t>A usability checkpoint, not statistical evidence of uplift.</a:t>
            </a:r>
            <a:endParaRPr lang="en-US" sz="1700" dirty="0"/>
          </a:p>
        </p:txBody>
      </p:sp>
      <p:sp>
        <p:nvSpPr>
          <p:cNvPr id="21" name="Text 19"/>
          <p:cNvSpPr/>
          <p:nvPr/>
        </p:nvSpPr>
        <p:spPr>
          <a:xfrm>
            <a:off x="749808" y="5605272"/>
            <a:ext cx="10698480" cy="548640"/>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The offline keyword toggle is a toy baseline—not Google Photos. Do not report Google Photos uplift from that comparison.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SUCCESS METRICS</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Measure verified recovery while guarding trust and privacy.</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No baseline or participant outcome has been measured. Thresholds below are proposed.</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09 / 10</a:t>
            </a:r>
            <a:endParaRPr lang="en-US" sz="1400" dirty="0"/>
          </a:p>
        </p:txBody>
      </p:sp>
      <p:sp>
        <p:nvSpPr>
          <p:cNvPr id="8" name="Shape 6"/>
          <p:cNvSpPr/>
          <p:nvPr/>
        </p:nvSpPr>
        <p:spPr>
          <a:xfrm>
            <a:off x="548640" y="2313432"/>
            <a:ext cx="11091672" cy="429768"/>
          </a:xfrm>
          <a:prstGeom prst="rect">
            <a:avLst/>
          </a:prstGeom>
          <a:solidFill>
            <a:srgbClr val="173B36"/>
          </a:solidFill>
          <a:ln w="12700">
            <a:solidFill>
              <a:srgbClr val="173B36">
                <a:alpha val="0"/>
              </a:srgbClr>
            </a:solidFill>
            <a:prstDash val="solid"/>
          </a:ln>
        </p:spPr>
      </p:sp>
      <p:sp>
        <p:nvSpPr>
          <p:cNvPr id="9" name="Text 7"/>
          <p:cNvSpPr/>
          <p:nvPr/>
        </p:nvSpPr>
        <p:spPr>
          <a:xfrm>
            <a:off x="749808" y="2423160"/>
            <a:ext cx="1828800" cy="219456"/>
          </a:xfrm>
          <a:prstGeom prst="rect">
            <a:avLst/>
          </a:prstGeom>
          <a:noFill/>
          <a:ln/>
        </p:spPr>
        <p:txBody>
          <a:bodyPr wrap="square" lIns="0" tIns="0" rIns="0" bIns="0" rtlCol="0" anchor="t"/>
          <a:lstStyle/>
          <a:p>
            <a:pPr indent="0" marL="0">
              <a:lnSpc>
                <a:spcPts val="1610"/>
              </a:lnSpc>
              <a:buNone/>
            </a:pPr>
            <a:r>
              <a:rPr lang="en-US" sz="1400" b="1" dirty="0">
                <a:solidFill>
                  <a:srgbClr val="FFFFFF"/>
                </a:solidFill>
                <a:latin typeface="Noto Sans" pitchFamily="34" charset="0"/>
                <a:ea typeface="Noto Sans" pitchFamily="34" charset="-122"/>
                <a:cs typeface="Noto Sans" pitchFamily="34" charset="-120"/>
              </a:rPr>
              <a:t>METRIC LAYER</a:t>
            </a:r>
            <a:endParaRPr lang="en-US" sz="1400" dirty="0"/>
          </a:p>
        </p:txBody>
      </p:sp>
      <p:sp>
        <p:nvSpPr>
          <p:cNvPr id="10" name="Text 8"/>
          <p:cNvSpPr/>
          <p:nvPr/>
        </p:nvSpPr>
        <p:spPr>
          <a:xfrm>
            <a:off x="2971800" y="2423160"/>
            <a:ext cx="4892040" cy="219456"/>
          </a:xfrm>
          <a:prstGeom prst="rect">
            <a:avLst/>
          </a:prstGeom>
          <a:noFill/>
          <a:ln/>
        </p:spPr>
        <p:txBody>
          <a:bodyPr wrap="square" lIns="0" tIns="0" rIns="0" bIns="0" rtlCol="0" anchor="t"/>
          <a:lstStyle/>
          <a:p>
            <a:pPr indent="0" marL="0">
              <a:lnSpc>
                <a:spcPts val="1610"/>
              </a:lnSpc>
              <a:buNone/>
            </a:pPr>
            <a:r>
              <a:rPr lang="en-US" sz="1400" b="1" dirty="0">
                <a:solidFill>
                  <a:srgbClr val="FFFFFF"/>
                </a:solidFill>
                <a:latin typeface="Noto Sans" pitchFamily="34" charset="0"/>
                <a:ea typeface="Noto Sans" pitchFamily="34" charset="-122"/>
                <a:cs typeface="Noto Sans" pitchFamily="34" charset="-120"/>
              </a:rPr>
              <a:t>DEFINITION / USE</a:t>
            </a:r>
            <a:endParaRPr lang="en-US" sz="1400" dirty="0"/>
          </a:p>
        </p:txBody>
      </p:sp>
      <p:sp>
        <p:nvSpPr>
          <p:cNvPr id="11" name="Text 9"/>
          <p:cNvSpPr/>
          <p:nvPr/>
        </p:nvSpPr>
        <p:spPr>
          <a:xfrm>
            <a:off x="8522208" y="2423160"/>
            <a:ext cx="2889504" cy="219456"/>
          </a:xfrm>
          <a:prstGeom prst="rect">
            <a:avLst/>
          </a:prstGeom>
          <a:noFill/>
          <a:ln/>
        </p:spPr>
        <p:txBody>
          <a:bodyPr wrap="square" lIns="0" tIns="0" rIns="0" bIns="0" rtlCol="0" anchor="t"/>
          <a:lstStyle/>
          <a:p>
            <a:pPr indent="0" marL="0">
              <a:lnSpc>
                <a:spcPts val="1610"/>
              </a:lnSpc>
              <a:buNone/>
            </a:pPr>
            <a:r>
              <a:rPr lang="en-US" sz="1400" b="1" dirty="0">
                <a:solidFill>
                  <a:srgbClr val="FFFFFF"/>
                </a:solidFill>
                <a:latin typeface="Noto Sans" pitchFamily="34" charset="0"/>
                <a:ea typeface="Noto Sans" pitchFamily="34" charset="-122"/>
                <a:cs typeface="Noto Sans" pitchFamily="34" charset="-120"/>
              </a:rPr>
              <a:t>CURRENT STATUS</a:t>
            </a:r>
            <a:endParaRPr lang="en-US" sz="1400" dirty="0"/>
          </a:p>
        </p:txBody>
      </p:sp>
      <p:sp>
        <p:nvSpPr>
          <p:cNvPr id="12" name="Shape 10"/>
          <p:cNvSpPr/>
          <p:nvPr/>
        </p:nvSpPr>
        <p:spPr>
          <a:xfrm>
            <a:off x="548640" y="2743200"/>
            <a:ext cx="11091672" cy="713232"/>
          </a:xfrm>
          <a:prstGeom prst="rect">
            <a:avLst/>
          </a:prstGeom>
          <a:solidFill>
            <a:srgbClr val="FFFFFF"/>
          </a:solidFill>
          <a:ln w="12700">
            <a:solidFill>
              <a:srgbClr val="FFFFFF">
                <a:alpha val="0"/>
              </a:srgbClr>
            </a:solidFill>
            <a:prstDash val="solid"/>
          </a:ln>
        </p:spPr>
      </p:sp>
      <p:sp>
        <p:nvSpPr>
          <p:cNvPr id="13" name="Text 11"/>
          <p:cNvSpPr/>
          <p:nvPr/>
        </p:nvSpPr>
        <p:spPr>
          <a:xfrm>
            <a:off x="749808" y="2880360"/>
            <a:ext cx="1792224" cy="466344"/>
          </a:xfrm>
          <a:prstGeom prst="rect">
            <a:avLst/>
          </a:prstGeom>
          <a:noFill/>
          <a:ln/>
        </p:spPr>
        <p:txBody>
          <a:bodyPr wrap="square" lIns="0" tIns="0" rIns="0" bIns="0" rtlCol="0" anchor="t"/>
          <a:lstStyle/>
          <a:p>
            <a:pPr indent="0" marL="0">
              <a:lnSpc>
                <a:spcPts val="1955"/>
              </a:lnSpc>
              <a:buNone/>
            </a:pPr>
            <a:r>
              <a:rPr lang="en-US" sz="1700" b="1" dirty="0">
                <a:solidFill>
                  <a:srgbClr val="173B36"/>
                </a:solidFill>
                <a:latin typeface="Noto Sans" pitchFamily="34" charset="0"/>
                <a:ea typeface="Noto Sans" pitchFamily="34" charset="-122"/>
                <a:cs typeface="Noto Sans" pitchFamily="34" charset="-120"/>
              </a:rPr>
              <a:t>User outcome</a:t>
            </a:r>
            <a:endParaRPr lang="en-US" sz="1700" dirty="0"/>
          </a:p>
        </p:txBody>
      </p:sp>
      <p:sp>
        <p:nvSpPr>
          <p:cNvPr id="14" name="Text 12"/>
          <p:cNvSpPr/>
          <p:nvPr/>
        </p:nvSpPr>
        <p:spPr>
          <a:xfrm>
            <a:off x="2971800" y="2871216"/>
            <a:ext cx="4901184" cy="484632"/>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Verified users retrieving the correct target within 120 seconds / eligible users (first task).</a:t>
            </a:r>
            <a:endParaRPr lang="en-US" sz="1600" dirty="0"/>
          </a:p>
        </p:txBody>
      </p:sp>
      <p:sp>
        <p:nvSpPr>
          <p:cNvPr id="15" name="Text 13"/>
          <p:cNvSpPr/>
          <p:nvPr/>
        </p:nvSpPr>
        <p:spPr>
          <a:xfrm>
            <a:off x="8522208" y="2871216"/>
            <a:ext cx="2871216" cy="512064"/>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No baseline. Proposed task limit: 120 seconds.</a:t>
            </a:r>
            <a:endParaRPr lang="en-US" sz="1500" dirty="0"/>
          </a:p>
        </p:txBody>
      </p:sp>
      <p:sp>
        <p:nvSpPr>
          <p:cNvPr id="16" name="Shape 14"/>
          <p:cNvSpPr/>
          <p:nvPr/>
        </p:nvSpPr>
        <p:spPr>
          <a:xfrm>
            <a:off x="548640" y="3456432"/>
            <a:ext cx="11091672" cy="713232"/>
          </a:xfrm>
          <a:prstGeom prst="rect">
            <a:avLst/>
          </a:prstGeom>
          <a:solidFill>
            <a:srgbClr val="EEF1E8"/>
          </a:solidFill>
          <a:ln w="12700">
            <a:solidFill>
              <a:srgbClr val="EEF1E8">
                <a:alpha val="0"/>
              </a:srgbClr>
            </a:solidFill>
            <a:prstDash val="solid"/>
          </a:ln>
        </p:spPr>
      </p:sp>
      <p:sp>
        <p:nvSpPr>
          <p:cNvPr id="17" name="Text 15"/>
          <p:cNvSpPr/>
          <p:nvPr/>
        </p:nvSpPr>
        <p:spPr>
          <a:xfrm>
            <a:off x="749808" y="3593592"/>
            <a:ext cx="1792224" cy="466344"/>
          </a:xfrm>
          <a:prstGeom prst="rect">
            <a:avLst/>
          </a:prstGeom>
          <a:noFill/>
          <a:ln/>
        </p:spPr>
        <p:txBody>
          <a:bodyPr wrap="square" lIns="0" tIns="0" rIns="0" bIns="0" rtlCol="0" anchor="t"/>
          <a:lstStyle/>
          <a:p>
            <a:pPr indent="0" marL="0">
              <a:lnSpc>
                <a:spcPts val="1955"/>
              </a:lnSpc>
              <a:buNone/>
            </a:pPr>
            <a:r>
              <a:rPr lang="en-US" sz="1700" b="1" dirty="0">
                <a:solidFill>
                  <a:srgbClr val="173B36"/>
                </a:solidFill>
                <a:latin typeface="Noto Sans" pitchFamily="34" charset="0"/>
                <a:ea typeface="Noto Sans" pitchFamily="34" charset="-122"/>
                <a:cs typeface="Noto Sans" pitchFamily="34" charset="-120"/>
              </a:rPr>
              <a:t>Task diagnostics</a:t>
            </a:r>
            <a:endParaRPr lang="en-US" sz="1700" dirty="0"/>
          </a:p>
        </p:txBody>
      </p:sp>
      <p:sp>
        <p:nvSpPr>
          <p:cNvPr id="18" name="Text 16"/>
          <p:cNvSpPr/>
          <p:nvPr/>
        </p:nvSpPr>
        <p:spPr>
          <a:xfrm>
            <a:off x="2971800" y="3584448"/>
            <a:ext cx="4901184" cy="484632"/>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Task success; time across all attempts; abandonment; clue edits; near-match recovery.</a:t>
            </a:r>
            <a:endParaRPr lang="en-US" sz="1600" dirty="0"/>
          </a:p>
        </p:txBody>
      </p:sp>
      <p:sp>
        <p:nvSpPr>
          <p:cNvPr id="19" name="Text 17"/>
          <p:cNvSpPr/>
          <p:nvPr/>
        </p:nvSpPr>
        <p:spPr>
          <a:xfrm>
            <a:off x="8522208" y="3584448"/>
            <a:ext cx="2871216" cy="512064"/>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Record failed and uncertain attempts—not just clicks.</a:t>
            </a:r>
            <a:endParaRPr lang="en-US" sz="1500" dirty="0"/>
          </a:p>
        </p:txBody>
      </p:sp>
      <p:sp>
        <p:nvSpPr>
          <p:cNvPr id="20" name="Shape 18"/>
          <p:cNvSpPr/>
          <p:nvPr/>
        </p:nvSpPr>
        <p:spPr>
          <a:xfrm>
            <a:off x="548640" y="4169664"/>
            <a:ext cx="11091672" cy="713232"/>
          </a:xfrm>
          <a:prstGeom prst="rect">
            <a:avLst/>
          </a:prstGeom>
          <a:solidFill>
            <a:srgbClr val="FFFFFF"/>
          </a:solidFill>
          <a:ln w="12700">
            <a:solidFill>
              <a:srgbClr val="FFFFFF">
                <a:alpha val="0"/>
              </a:srgbClr>
            </a:solidFill>
            <a:prstDash val="solid"/>
          </a:ln>
        </p:spPr>
      </p:sp>
      <p:sp>
        <p:nvSpPr>
          <p:cNvPr id="21" name="Text 19"/>
          <p:cNvSpPr/>
          <p:nvPr/>
        </p:nvSpPr>
        <p:spPr>
          <a:xfrm>
            <a:off x="749808" y="4306824"/>
            <a:ext cx="1792224" cy="466344"/>
          </a:xfrm>
          <a:prstGeom prst="rect">
            <a:avLst/>
          </a:prstGeom>
          <a:noFill/>
          <a:ln/>
        </p:spPr>
        <p:txBody>
          <a:bodyPr wrap="square" lIns="0" tIns="0" rIns="0" bIns="0" rtlCol="0" anchor="t"/>
          <a:lstStyle/>
          <a:p>
            <a:pPr indent="0" marL="0">
              <a:lnSpc>
                <a:spcPts val="1955"/>
              </a:lnSpc>
              <a:buNone/>
            </a:pPr>
            <a:r>
              <a:rPr lang="en-US" sz="1700" b="1" dirty="0">
                <a:solidFill>
                  <a:srgbClr val="173B36"/>
                </a:solidFill>
                <a:latin typeface="Noto Sans" pitchFamily="34" charset="0"/>
                <a:ea typeface="Noto Sans" pitchFamily="34" charset="-122"/>
                <a:cs typeface="Noto Sans" pitchFamily="34" charset="-120"/>
              </a:rPr>
              <a:t>AI / system quality</a:t>
            </a:r>
            <a:endParaRPr lang="en-US" sz="1700" dirty="0"/>
          </a:p>
        </p:txBody>
      </p:sp>
      <p:sp>
        <p:nvSpPr>
          <p:cNvPr id="22" name="Text 20"/>
          <p:cNvSpPr/>
          <p:nvPr/>
        </p:nvSpPr>
        <p:spPr>
          <a:xfrm>
            <a:off x="2971800" y="4297680"/>
            <a:ext cx="4901184" cy="484632"/>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Candidate coverage; wrong interpretations; latency; calls and cost per attempt.</a:t>
            </a:r>
            <a:endParaRPr lang="en-US" sz="1600" dirty="0"/>
          </a:p>
        </p:txBody>
      </p:sp>
      <p:sp>
        <p:nvSpPr>
          <p:cNvPr id="23" name="Text 21"/>
          <p:cNvSpPr/>
          <p:nvPr/>
        </p:nvSpPr>
        <p:spPr>
          <a:xfrm>
            <a:off x="8522208" y="4297680"/>
            <a:ext cx="2871216" cy="512064"/>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Live quality and cost checks are pending.</a:t>
            </a:r>
            <a:endParaRPr lang="en-US" sz="1500" dirty="0"/>
          </a:p>
        </p:txBody>
      </p:sp>
      <p:sp>
        <p:nvSpPr>
          <p:cNvPr id="24" name="Shape 22"/>
          <p:cNvSpPr/>
          <p:nvPr/>
        </p:nvSpPr>
        <p:spPr>
          <a:xfrm>
            <a:off x="548640" y="4882896"/>
            <a:ext cx="11091672" cy="713232"/>
          </a:xfrm>
          <a:prstGeom prst="rect">
            <a:avLst/>
          </a:prstGeom>
          <a:solidFill>
            <a:srgbClr val="EEF1E8"/>
          </a:solidFill>
          <a:ln w="12700">
            <a:solidFill>
              <a:srgbClr val="EEF1E8">
                <a:alpha val="0"/>
              </a:srgbClr>
            </a:solidFill>
            <a:prstDash val="solid"/>
          </a:ln>
        </p:spPr>
      </p:sp>
      <p:sp>
        <p:nvSpPr>
          <p:cNvPr id="25" name="Text 23"/>
          <p:cNvSpPr/>
          <p:nvPr/>
        </p:nvSpPr>
        <p:spPr>
          <a:xfrm>
            <a:off x="749808" y="5020056"/>
            <a:ext cx="1792224" cy="466344"/>
          </a:xfrm>
          <a:prstGeom prst="rect">
            <a:avLst/>
          </a:prstGeom>
          <a:noFill/>
          <a:ln/>
        </p:spPr>
        <p:txBody>
          <a:bodyPr wrap="square" lIns="0" tIns="0" rIns="0" bIns="0" rtlCol="0" anchor="t"/>
          <a:lstStyle/>
          <a:p>
            <a:pPr indent="0" marL="0">
              <a:lnSpc>
                <a:spcPts val="1955"/>
              </a:lnSpc>
              <a:buNone/>
            </a:pPr>
            <a:r>
              <a:rPr lang="en-US" sz="1700" b="1" dirty="0">
                <a:solidFill>
                  <a:srgbClr val="173B36"/>
                </a:solidFill>
                <a:latin typeface="Noto Sans" pitchFamily="34" charset="0"/>
                <a:ea typeface="Noto Sans" pitchFamily="34" charset="-122"/>
                <a:cs typeface="Noto Sans" pitchFamily="34" charset="-120"/>
              </a:rPr>
              <a:t>Trust guardrails</a:t>
            </a:r>
            <a:endParaRPr lang="en-US" sz="1700" dirty="0"/>
          </a:p>
        </p:txBody>
      </p:sp>
      <p:sp>
        <p:nvSpPr>
          <p:cNvPr id="26" name="Text 24"/>
          <p:cNvSpPr/>
          <p:nvPr/>
        </p:nvSpPr>
        <p:spPr>
          <a:xfrm>
            <a:off x="2971800" y="5010912"/>
            <a:ext cx="4901184" cy="484632"/>
          </a:xfrm>
          <a:prstGeom prst="rect">
            <a:avLst/>
          </a:prstGeom>
          <a:noFill/>
          <a:ln/>
        </p:spPr>
        <p:txBody>
          <a:bodyPr wrap="square" lIns="0" tIns="0" rIns="0" bIns="0" rtlCol="0" anchor="t"/>
          <a:lstStyle/>
          <a:p>
            <a:pPr indent="0" marL="0">
              <a:lnSpc>
                <a:spcPts val="1840"/>
              </a:lnSpc>
              <a:buNone/>
            </a:pPr>
            <a:r>
              <a:rPr lang="en-US" sz="1600" dirty="0">
                <a:solidFill>
                  <a:srgbClr val="334D47"/>
                </a:solidFill>
                <a:latin typeface="Noto Sans" pitchFamily="34" charset="0"/>
                <a:ea typeface="Noto Sans" pitchFamily="34" charset="-122"/>
                <a:cs typeface="Noto Sans" pitchFamily="34" charset="-120"/>
              </a:rPr>
              <a:t>False verified success; image exposure; misleading metadata; inability to undo.</a:t>
            </a:r>
            <a:endParaRPr lang="en-US" sz="1600" dirty="0"/>
          </a:p>
        </p:txBody>
      </p:sp>
      <p:sp>
        <p:nvSpPr>
          <p:cNvPr id="27" name="Text 25"/>
          <p:cNvSpPr/>
          <p:nvPr/>
        </p:nvSpPr>
        <p:spPr>
          <a:xfrm>
            <a:off x="8522208" y="5010912"/>
            <a:ext cx="2871216" cy="512064"/>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Proposed goal: no false confirmations or exposure.</a:t>
            </a:r>
            <a:endParaRPr lang="en-US" sz="1500" dirty="0"/>
          </a:p>
        </p:txBody>
      </p:sp>
      <p:sp>
        <p:nvSpPr>
          <p:cNvPr id="28" name="Text 26"/>
          <p:cNvSpPr/>
          <p:nvPr/>
        </p:nvSpPr>
        <p:spPr>
          <a:xfrm>
            <a:off x="749808" y="5870448"/>
            <a:ext cx="10634472" cy="274320"/>
          </a:xfrm>
          <a:prstGeom prst="rect">
            <a:avLst/>
          </a:prstGeom>
          <a:noFill/>
          <a:ln/>
        </p:spPr>
        <p:txBody>
          <a:bodyPr wrap="square" lIns="0" tIns="0" rIns="0" bIns="0" rtlCol="0" anchor="t"/>
          <a:lstStyle/>
          <a:p>
            <a:pPr indent="0" marL="0">
              <a:lnSpc>
                <a:spcPts val="1955"/>
              </a:lnSpc>
              <a:buNone/>
            </a:pPr>
            <a:r>
              <a:rPr lang="en-US" sz="1700" b="1" dirty="0">
                <a:solidFill>
                  <a:srgbClr val="173B36"/>
                </a:solidFill>
                <a:latin typeface="Noto Sans" pitchFamily="34" charset="0"/>
                <a:ea typeface="Noto Sans" pitchFamily="34" charset="-122"/>
                <a:cs typeface="Noto Sans" pitchFamily="34" charset="-120"/>
              </a:rPr>
              <a:t>A click is not proof. Real-photo selections remain unverified until the intended target is independently checked.</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9184"/>
            <a:ext cx="10698480" cy="256032"/>
          </a:xfrm>
          <a:prstGeom prst="rect">
            <a:avLst/>
          </a:prstGeom>
          <a:noFill/>
          <a:ln/>
        </p:spPr>
        <p:txBody>
          <a:bodyPr wrap="square" lIns="0" tIns="0" rIns="0" bIns="0" rtlCol="0" anchor="t"/>
          <a:lstStyle/>
          <a:p>
            <a:pPr indent="0" marL="0">
              <a:lnSpc>
                <a:spcPts val="1610"/>
              </a:lnSpc>
              <a:buNone/>
            </a:pPr>
            <a:r>
              <a:rPr lang="en-US" sz="1400" b="1" spc="150" kern="0" dirty="0">
                <a:solidFill>
                  <a:srgbClr val="1F6556"/>
                </a:solidFill>
                <a:latin typeface="Noto Sans" pitchFamily="34" charset="0"/>
                <a:ea typeface="Noto Sans" pitchFamily="34" charset="-122"/>
                <a:cs typeface="Noto Sans" pitchFamily="34" charset="-120"/>
              </a:rPr>
              <a:t>RISKS &amp; SUBMISSION READINESS</a:t>
            </a:r>
            <a:endParaRPr lang="en-US" sz="1400" dirty="0"/>
          </a:p>
        </p:txBody>
      </p:sp>
      <p:sp>
        <p:nvSpPr>
          <p:cNvPr id="3" name="Text 1"/>
          <p:cNvSpPr/>
          <p:nvPr/>
        </p:nvSpPr>
        <p:spPr>
          <a:xfrm>
            <a:off x="548640" y="841248"/>
            <a:ext cx="11064240" cy="960120"/>
          </a:xfrm>
          <a:prstGeom prst="rect">
            <a:avLst/>
          </a:prstGeom>
          <a:noFill/>
          <a:ln/>
        </p:spPr>
        <p:txBody>
          <a:bodyPr wrap="square" lIns="0" tIns="0" rIns="0" bIns="0" rtlCol="0" anchor="t"/>
          <a:lstStyle/>
          <a:p>
            <a:pPr indent="0" marL="0">
              <a:lnSpc>
                <a:spcPts val="3565"/>
              </a:lnSpc>
              <a:buNone/>
            </a:pPr>
            <a:r>
              <a:rPr lang="en-US" sz="3100" b="1" dirty="0">
                <a:solidFill>
                  <a:srgbClr val="173B36"/>
                </a:solidFill>
                <a:latin typeface="Noto Sans" pitchFamily="34" charset="0"/>
                <a:ea typeface="Noto Sans" pitchFamily="34" charset="-122"/>
                <a:cs typeface="Noto Sans" pitchFamily="34" charset="-120"/>
              </a:rPr>
              <a:t>Publish only after evidence, privacy and access checks pass.</a:t>
            </a:r>
            <a:endParaRPr lang="en-US" sz="3100" dirty="0"/>
          </a:p>
        </p:txBody>
      </p:sp>
      <p:sp>
        <p:nvSpPr>
          <p:cNvPr id="4" name="Text 2"/>
          <p:cNvSpPr/>
          <p:nvPr/>
        </p:nvSpPr>
        <p:spPr>
          <a:xfrm>
            <a:off x="548640" y="1883664"/>
            <a:ext cx="11018520" cy="384048"/>
          </a:xfrm>
          <a:prstGeom prst="rect">
            <a:avLst/>
          </a:prstGeom>
          <a:noFill/>
          <a:ln/>
        </p:spPr>
        <p:txBody>
          <a:bodyPr wrap="square" lIns="0" tIns="0" rIns="0" bIns="0" rtlCol="0" anchor="t"/>
          <a:lstStyle/>
          <a:p>
            <a:pPr indent="0" marL="0">
              <a:lnSpc>
                <a:spcPts val="1840"/>
              </a:lnSpc>
              <a:buNone/>
            </a:pPr>
            <a:r>
              <a:rPr lang="en-US" sz="1600" dirty="0">
                <a:solidFill>
                  <a:srgbClr val="65716A"/>
                </a:solidFill>
                <a:latin typeface="Noto Sans" pitchFamily="34" charset="0"/>
                <a:ea typeface="Noto Sans" pitchFamily="34" charset="-122"/>
                <a:cs typeface="Noto Sans" pitchFamily="34" charset="-120"/>
              </a:rPr>
              <a:t>Fieldwork, live model checks and public testable links are required before submission.</a:t>
            </a:r>
            <a:endParaRPr lang="en-US" sz="1600" dirty="0"/>
          </a:p>
        </p:txBody>
      </p:sp>
      <p:sp>
        <p:nvSpPr>
          <p:cNvPr id="5" name="Shape 3"/>
          <p:cNvSpPr/>
          <p:nvPr/>
        </p:nvSpPr>
        <p:spPr>
          <a:xfrm>
            <a:off x="548640" y="6382512"/>
            <a:ext cx="11091672" cy="0"/>
          </a:xfrm>
          <a:prstGeom prst="line">
            <a:avLst/>
          </a:prstGeom>
          <a:noFill/>
          <a:ln w="12700">
            <a:solidFill>
              <a:srgbClr val="D6DED3"/>
            </a:solidFill>
            <a:prstDash val="solid"/>
          </a:ln>
        </p:spPr>
      </p:sp>
      <p:sp>
        <p:nvSpPr>
          <p:cNvPr id="6" name="Text 4"/>
          <p:cNvSpPr/>
          <p:nvPr/>
        </p:nvSpPr>
        <p:spPr>
          <a:xfrm>
            <a:off x="548640" y="6473952"/>
            <a:ext cx="7406640" cy="201168"/>
          </a:xfrm>
          <a:prstGeom prst="rect">
            <a:avLst/>
          </a:prstGeom>
          <a:noFill/>
          <a:ln/>
        </p:spPr>
        <p:txBody>
          <a:bodyPr wrap="square" lIns="0" tIns="0" rIns="0" bIns="0" rtlCol="0" anchor="t"/>
          <a:lstStyle/>
          <a:p>
            <a:pP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MemoryTrail  /  Research draft • field validation pending</a:t>
            </a:r>
            <a:endParaRPr lang="en-US" sz="1400" dirty="0"/>
          </a:p>
        </p:txBody>
      </p:sp>
      <p:sp>
        <p:nvSpPr>
          <p:cNvPr id="7" name="Text 5"/>
          <p:cNvSpPr/>
          <p:nvPr/>
        </p:nvSpPr>
        <p:spPr>
          <a:xfrm>
            <a:off x="10753344" y="6473952"/>
            <a:ext cx="896112" cy="201168"/>
          </a:xfrm>
          <a:prstGeom prst="rect">
            <a:avLst/>
          </a:prstGeom>
          <a:noFill/>
          <a:ln/>
        </p:spPr>
        <p:txBody>
          <a:bodyPr wrap="square" lIns="0" tIns="0" rIns="0" bIns="0" rtlCol="0" anchor="t"/>
          <a:lstStyle/>
          <a:p>
            <a:pPr algn="r" indent="0" marL="0">
              <a:lnSpc>
                <a:spcPts val="1610"/>
              </a:lnSpc>
              <a:buNone/>
            </a:pPr>
            <a:r>
              <a:rPr lang="en-US" sz="1400" dirty="0">
                <a:solidFill>
                  <a:srgbClr val="65716A"/>
                </a:solidFill>
                <a:latin typeface="Noto Sans" pitchFamily="34" charset="0"/>
                <a:ea typeface="Noto Sans" pitchFamily="34" charset="-122"/>
                <a:cs typeface="Noto Sans" pitchFamily="34" charset="-120"/>
              </a:rPr>
              <a:t>10 / 10</a:t>
            </a:r>
            <a:endParaRPr lang="en-US" sz="1400" dirty="0"/>
          </a:p>
        </p:txBody>
      </p:sp>
      <p:sp>
        <p:nvSpPr>
          <p:cNvPr id="8" name="Text 6"/>
          <p:cNvSpPr/>
          <p:nvPr/>
        </p:nvSpPr>
        <p:spPr>
          <a:xfrm>
            <a:off x="548640" y="2267712"/>
            <a:ext cx="5522976" cy="246888"/>
          </a:xfrm>
          <a:prstGeom prst="rect">
            <a:avLst/>
          </a:prstGeom>
          <a:noFill/>
          <a:ln/>
        </p:spPr>
        <p:txBody>
          <a:bodyPr wrap="square" lIns="0" tIns="0" rIns="0" bIns="0" rtlCol="0" anchor="t"/>
          <a:lstStyle/>
          <a:p>
            <a:pPr indent="0" marL="0">
              <a:lnSpc>
                <a:spcPts val="1610"/>
              </a:lnSpc>
              <a:buNone/>
            </a:pPr>
            <a:r>
              <a:rPr lang="en-US" sz="1400" b="1" dirty="0">
                <a:solidFill>
                  <a:srgbClr val="1F6556"/>
                </a:solidFill>
                <a:latin typeface="Noto Sans" pitchFamily="34" charset="0"/>
                <a:ea typeface="Noto Sans" pitchFamily="34" charset="-122"/>
                <a:cs typeface="Noto Sans" pitchFamily="34" charset="-120"/>
              </a:rPr>
              <a:t>RISKS → MITIGATIONS</a:t>
            </a:r>
            <a:endParaRPr lang="en-US" sz="1400" dirty="0"/>
          </a:p>
        </p:txBody>
      </p:sp>
      <p:sp>
        <p:nvSpPr>
          <p:cNvPr id="9" name="Shape 7"/>
          <p:cNvSpPr/>
          <p:nvPr/>
        </p:nvSpPr>
        <p:spPr>
          <a:xfrm>
            <a:off x="548640" y="2734056"/>
            <a:ext cx="5705856" cy="905256"/>
          </a:xfrm>
          <a:prstGeom prst="roundRect">
            <a:avLst>
              <a:gd name="adj" fmla="val 15152"/>
            </a:avLst>
          </a:prstGeom>
          <a:solidFill>
            <a:srgbClr val="FFFFFF"/>
          </a:solidFill>
          <a:ln w="12700">
            <a:solidFill>
              <a:srgbClr val="FFFFFF">
                <a:alpha val="0"/>
              </a:srgbClr>
            </a:solidFill>
            <a:prstDash val="solid"/>
          </a:ln>
        </p:spPr>
      </p:sp>
      <p:sp>
        <p:nvSpPr>
          <p:cNvPr id="10" name="Text 8"/>
          <p:cNvSpPr/>
          <p:nvPr/>
        </p:nvSpPr>
        <p:spPr>
          <a:xfrm>
            <a:off x="768096" y="2852928"/>
            <a:ext cx="5266944" cy="246888"/>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Wrong or absent memories</a:t>
            </a:r>
            <a:endParaRPr lang="en-US" sz="1800" dirty="0"/>
          </a:p>
        </p:txBody>
      </p:sp>
      <p:sp>
        <p:nvSpPr>
          <p:cNvPr id="11" name="Text 9"/>
          <p:cNvSpPr/>
          <p:nvPr/>
        </p:nvSpPr>
        <p:spPr>
          <a:xfrm>
            <a:off x="768096" y="3154680"/>
            <a:ext cx="5239512" cy="411480"/>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Keep guesses soft; check collection coverage; never manufacture a missing photograph.</a:t>
            </a:r>
            <a:endParaRPr lang="en-US" sz="1500" dirty="0"/>
          </a:p>
        </p:txBody>
      </p:sp>
      <p:sp>
        <p:nvSpPr>
          <p:cNvPr id="12" name="Shape 10"/>
          <p:cNvSpPr/>
          <p:nvPr/>
        </p:nvSpPr>
        <p:spPr>
          <a:xfrm>
            <a:off x="548640" y="3721608"/>
            <a:ext cx="5705856" cy="905256"/>
          </a:xfrm>
          <a:prstGeom prst="roundRect">
            <a:avLst>
              <a:gd name="adj" fmla="val 15152"/>
            </a:avLst>
          </a:prstGeom>
          <a:solidFill>
            <a:srgbClr val="FFFFFF"/>
          </a:solidFill>
          <a:ln w="12700">
            <a:solidFill>
              <a:srgbClr val="FFFFFF">
                <a:alpha val="0"/>
              </a:srgbClr>
            </a:solidFill>
            <a:prstDash val="solid"/>
          </a:ln>
        </p:spPr>
      </p:sp>
      <p:sp>
        <p:nvSpPr>
          <p:cNvPr id="13" name="Text 11"/>
          <p:cNvSpPr/>
          <p:nvPr/>
        </p:nvSpPr>
        <p:spPr>
          <a:xfrm>
            <a:off x="768096" y="3840480"/>
            <a:ext cx="5266944" cy="246888"/>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Private photos or uncontrolled cost</a:t>
            </a:r>
            <a:endParaRPr lang="en-US" sz="1800" dirty="0"/>
          </a:p>
        </p:txBody>
      </p:sp>
      <p:sp>
        <p:nvSpPr>
          <p:cNvPr id="14" name="Text 12"/>
          <p:cNvSpPr/>
          <p:nvPr/>
        </p:nvSpPr>
        <p:spPr>
          <a:xfrm>
            <a:off x="768096" y="4142232"/>
            <a:ext cx="5239512" cy="411480"/>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Explicit selection and consent; server-side keys; reviewer access; provider spending limits.</a:t>
            </a:r>
            <a:endParaRPr lang="en-US" sz="1500" dirty="0"/>
          </a:p>
        </p:txBody>
      </p:sp>
      <p:sp>
        <p:nvSpPr>
          <p:cNvPr id="15" name="Shape 13"/>
          <p:cNvSpPr/>
          <p:nvPr/>
        </p:nvSpPr>
        <p:spPr>
          <a:xfrm>
            <a:off x="548640" y="4709160"/>
            <a:ext cx="5705856" cy="905256"/>
          </a:xfrm>
          <a:prstGeom prst="roundRect">
            <a:avLst>
              <a:gd name="adj" fmla="val 15152"/>
            </a:avLst>
          </a:prstGeom>
          <a:solidFill>
            <a:srgbClr val="FFFFFF"/>
          </a:solidFill>
          <a:ln w="12700">
            <a:solidFill>
              <a:srgbClr val="FFFFFF">
                <a:alpha val="0"/>
              </a:srgbClr>
            </a:solidFill>
            <a:prstDash val="solid"/>
          </a:ln>
        </p:spPr>
      </p:sp>
      <p:sp>
        <p:nvSpPr>
          <p:cNvPr id="16" name="Text 14"/>
          <p:cNvSpPr/>
          <p:nvPr/>
        </p:nvSpPr>
        <p:spPr>
          <a:xfrm>
            <a:off x="768096" y="4828032"/>
            <a:ext cx="5266944" cy="246888"/>
          </a:xfrm>
          <a:prstGeom prst="rect">
            <a:avLst/>
          </a:prstGeom>
          <a:noFill/>
          <a:ln/>
        </p:spPr>
        <p:txBody>
          <a:bodyPr wrap="square" lIns="0" tIns="0" rIns="0" bIns="0" rtlCol="0" anchor="t"/>
          <a:lstStyle/>
          <a:p>
            <a:pPr indent="0" marL="0">
              <a:lnSpc>
                <a:spcPts val="2070"/>
              </a:lnSpc>
              <a:buNone/>
            </a:pPr>
            <a:r>
              <a:rPr lang="en-US" sz="1800" b="1" dirty="0">
                <a:solidFill>
                  <a:srgbClr val="173B36"/>
                </a:solidFill>
                <a:latin typeface="Noto Sans" pitchFamily="34" charset="0"/>
                <a:ea typeface="Noto Sans" pitchFamily="34" charset="-122"/>
                <a:cs typeface="Noto Sans" pitchFamily="34" charset="-120"/>
              </a:rPr>
              <a:t>No advantage over current search</a:t>
            </a:r>
            <a:endParaRPr lang="en-US" sz="1800" dirty="0"/>
          </a:p>
        </p:txBody>
      </p:sp>
      <p:sp>
        <p:nvSpPr>
          <p:cNvPr id="17" name="Text 15"/>
          <p:cNvSpPr/>
          <p:nvPr/>
        </p:nvSpPr>
        <p:spPr>
          <a:xfrm>
            <a:off x="768096" y="5129784"/>
            <a:ext cx="5239512" cy="411480"/>
          </a:xfrm>
          <a:prstGeom prst="rect">
            <a:avLst/>
          </a:prstGeom>
          <a:noFill/>
          <a:ln/>
        </p:spPr>
        <p:txBody>
          <a:bodyPr wrap="square" lIns="0" tIns="0" rIns="0" bIns="0" rtlCol="0" anchor="t"/>
          <a:lstStyle/>
          <a:p>
            <a:pPr indent="0" marL="0">
              <a:lnSpc>
                <a:spcPts val="1725"/>
              </a:lnSpc>
              <a:buNone/>
            </a:pPr>
            <a:r>
              <a:rPr lang="en-US" sz="1500" dirty="0">
                <a:solidFill>
                  <a:srgbClr val="334D47"/>
                </a:solidFill>
                <a:latin typeface="Noto Sans" pitchFamily="34" charset="0"/>
                <a:ea typeface="Noto Sans" pitchFamily="34" charset="-122"/>
                <a:cs typeface="Noto Sans" pitchFamily="34" charset="-120"/>
              </a:rPr>
              <a:t>Compare against observed Ask Photos behaviour; pivot when evidence rejects the recovery hypothesis.</a:t>
            </a:r>
            <a:endParaRPr lang="en-US" sz="1500" dirty="0"/>
          </a:p>
        </p:txBody>
      </p:sp>
      <p:sp>
        <p:nvSpPr>
          <p:cNvPr id="18" name="Shape 16"/>
          <p:cNvSpPr/>
          <p:nvPr/>
        </p:nvSpPr>
        <p:spPr>
          <a:xfrm>
            <a:off x="6537960" y="2267712"/>
            <a:ext cx="5102352" cy="3547872"/>
          </a:xfrm>
          <a:prstGeom prst="roundRect">
            <a:avLst>
              <a:gd name="adj" fmla="val 3866"/>
            </a:avLst>
          </a:prstGeom>
          <a:solidFill>
            <a:srgbClr val="173B36"/>
          </a:solidFill>
          <a:ln w="12700">
            <a:solidFill>
              <a:srgbClr val="173B36">
                <a:alpha val="0"/>
              </a:srgbClr>
            </a:solidFill>
            <a:prstDash val="solid"/>
          </a:ln>
        </p:spPr>
      </p:sp>
      <p:sp>
        <p:nvSpPr>
          <p:cNvPr id="19" name="Text 17"/>
          <p:cNvSpPr/>
          <p:nvPr/>
        </p:nvSpPr>
        <p:spPr>
          <a:xfrm>
            <a:off x="6793992" y="2542032"/>
            <a:ext cx="4590288" cy="237744"/>
          </a:xfrm>
          <a:prstGeom prst="rect">
            <a:avLst/>
          </a:prstGeom>
          <a:noFill/>
          <a:ln/>
        </p:spPr>
        <p:txBody>
          <a:bodyPr wrap="square" lIns="0" tIns="0" rIns="0" bIns="0" rtlCol="0" anchor="t"/>
          <a:lstStyle/>
          <a:p>
            <a:pPr indent="0" marL="0">
              <a:lnSpc>
                <a:spcPts val="1610"/>
              </a:lnSpc>
              <a:buNone/>
            </a:pPr>
            <a:r>
              <a:rPr lang="en-US" sz="1400" b="1" dirty="0">
                <a:solidFill>
                  <a:srgbClr val="DDE8D8"/>
                </a:solidFill>
                <a:latin typeface="Noto Sans" pitchFamily="34" charset="0"/>
                <a:ea typeface="Noto Sans" pitchFamily="34" charset="-122"/>
                <a:cs typeface="Noto Sans" pitchFamily="34" charset="-120"/>
              </a:rPr>
              <a:t>SUBMISSION CHECK</a:t>
            </a:r>
            <a:endParaRPr lang="en-US" sz="1400" dirty="0"/>
          </a:p>
        </p:txBody>
      </p:sp>
      <p:sp>
        <p:nvSpPr>
          <p:cNvPr id="20" name="Text 18"/>
          <p:cNvSpPr/>
          <p:nvPr/>
        </p:nvSpPr>
        <p:spPr>
          <a:xfrm>
            <a:off x="6793992" y="2962656"/>
            <a:ext cx="1143000" cy="274320"/>
          </a:xfrm>
          <a:prstGeom prst="rect">
            <a:avLst/>
          </a:prstGeom>
          <a:noFill/>
          <a:ln/>
        </p:spPr>
        <p:txBody>
          <a:bodyPr wrap="square" lIns="0" tIns="0" rIns="0" bIns="0" rtlCol="0" anchor="t"/>
          <a:lstStyle/>
          <a:p>
            <a:pPr indent="0" marL="0">
              <a:lnSpc>
                <a:spcPts val="1840"/>
              </a:lnSpc>
              <a:buNone/>
            </a:pPr>
            <a:r>
              <a:rPr lang="en-US" sz="1600" b="1" dirty="0">
                <a:solidFill>
                  <a:srgbClr val="E7CD85"/>
                </a:solidFill>
                <a:latin typeface="Noto Sans" pitchFamily="34" charset="0"/>
                <a:ea typeface="Noto Sans" pitchFamily="34" charset="-122"/>
                <a:cs typeface="Noto Sans" pitchFamily="34" charset="-120"/>
              </a:rPr>
              <a:t>BUILT</a:t>
            </a:r>
            <a:endParaRPr lang="en-US" sz="1600" dirty="0"/>
          </a:p>
        </p:txBody>
      </p:sp>
      <p:sp>
        <p:nvSpPr>
          <p:cNvPr id="21" name="Text 19"/>
          <p:cNvSpPr/>
          <p:nvPr/>
        </p:nvSpPr>
        <p:spPr>
          <a:xfrm>
            <a:off x="8065008" y="2944368"/>
            <a:ext cx="3264408" cy="630936"/>
          </a:xfrm>
          <a:prstGeom prst="rect">
            <a:avLst/>
          </a:prstGeom>
          <a:noFill/>
          <a:ln/>
        </p:spPr>
        <p:txBody>
          <a:bodyPr wrap="square" lIns="0" tIns="0" rIns="0" bIns="0" rtlCol="0" anchor="t"/>
          <a:lstStyle/>
          <a:p>
            <a:pPr indent="0" marL="0">
              <a:lnSpc>
                <a:spcPts val="1955"/>
              </a:lnSpc>
              <a:buNone/>
            </a:pPr>
            <a:r>
              <a:rPr lang="en-US" sz="1700" dirty="0">
                <a:solidFill>
                  <a:srgbClr val="FFFFFF"/>
                </a:solidFill>
                <a:latin typeface="Noto Sans" pitchFamily="34" charset="0"/>
                <a:ea typeface="Noto Sans" pitchFamily="34" charset="-122"/>
                <a:cs typeface="Noto Sans" pitchFamily="34" charset="-120"/>
              </a:rPr>
              <a:t>Deck + local demo</a:t>
            </a:r>
            <a:endParaRPr lang="en-US" sz="1700" dirty="0"/>
          </a:p>
          <a:p>
            <a:pPr indent="0" marL="0">
              <a:lnSpc>
                <a:spcPts val="1955"/>
              </a:lnSpc>
              <a:buNone/>
            </a:pPr>
            <a:r>
              <a:rPr lang="en-US" sz="1700" dirty="0">
                <a:solidFill>
                  <a:srgbClr val="FFFFFF"/>
                </a:solidFill>
                <a:latin typeface="Noto Sans" pitchFamily="34" charset="0"/>
                <a:ea typeface="Noto Sans" pitchFamily="34" charset="-122"/>
                <a:cs typeface="Noto Sans" pitchFamily="34" charset="-120"/>
              </a:rPr>
              <a:t>AI code + research templates</a:t>
            </a:r>
            <a:endParaRPr lang="en-US" sz="1700" dirty="0"/>
          </a:p>
        </p:txBody>
      </p:sp>
      <p:sp>
        <p:nvSpPr>
          <p:cNvPr id="22" name="Text 20"/>
          <p:cNvSpPr/>
          <p:nvPr/>
        </p:nvSpPr>
        <p:spPr>
          <a:xfrm>
            <a:off x="6793992" y="3950208"/>
            <a:ext cx="1143000" cy="274320"/>
          </a:xfrm>
          <a:prstGeom prst="rect">
            <a:avLst/>
          </a:prstGeom>
          <a:noFill/>
          <a:ln/>
        </p:spPr>
        <p:txBody>
          <a:bodyPr wrap="square" lIns="0" tIns="0" rIns="0" bIns="0" rtlCol="0" anchor="t"/>
          <a:lstStyle/>
          <a:p>
            <a:pPr indent="0" marL="0">
              <a:lnSpc>
                <a:spcPts val="1840"/>
              </a:lnSpc>
              <a:buNone/>
            </a:pPr>
            <a:r>
              <a:rPr lang="en-US" sz="1600" b="1" dirty="0">
                <a:solidFill>
                  <a:srgbClr val="E7CD85"/>
                </a:solidFill>
                <a:latin typeface="Noto Sans" pitchFamily="34" charset="0"/>
                <a:ea typeface="Noto Sans" pitchFamily="34" charset="-122"/>
                <a:cs typeface="Noto Sans" pitchFamily="34" charset="-120"/>
              </a:rPr>
              <a:t>PENDING</a:t>
            </a:r>
            <a:endParaRPr lang="en-US" sz="1600" dirty="0"/>
          </a:p>
        </p:txBody>
      </p:sp>
      <p:sp>
        <p:nvSpPr>
          <p:cNvPr id="23" name="Text 21"/>
          <p:cNvSpPr/>
          <p:nvPr/>
        </p:nvSpPr>
        <p:spPr>
          <a:xfrm>
            <a:off x="8065008" y="3922776"/>
            <a:ext cx="3273552" cy="1115568"/>
          </a:xfrm>
          <a:prstGeom prst="rect">
            <a:avLst/>
          </a:prstGeom>
          <a:noFill/>
          <a:ln/>
        </p:spPr>
        <p:txBody>
          <a:bodyPr wrap="square" lIns="0" tIns="0" rIns="0" bIns="0" rtlCol="0" anchor="t"/>
          <a:lstStyle/>
          <a:p>
            <a:pPr indent="0" marL="0">
              <a:lnSpc>
                <a:spcPts val="1955"/>
              </a:lnSpc>
              <a:buNone/>
            </a:pPr>
            <a:r>
              <a:rPr lang="en-US" sz="1700" dirty="0">
                <a:solidFill>
                  <a:srgbClr val="FFFFFF"/>
                </a:solidFill>
                <a:latin typeface="Noto Sans" pitchFamily="34" charset="0"/>
                <a:ea typeface="Noto Sans" pitchFamily="34" charset="-122"/>
                <a:cs typeface="Noto Sans" pitchFamily="34" charset="-120"/>
              </a:rPr>
              <a:t>5–6 interviews; 3 user tests</a:t>
            </a:r>
            <a:endParaRPr lang="en-US" sz="1700" dirty="0"/>
          </a:p>
          <a:p>
            <a:pPr indent="0" marL="0">
              <a:lnSpc>
                <a:spcPts val="1955"/>
              </a:lnSpc>
              <a:buNone/>
            </a:pPr>
            <a:r>
              <a:rPr lang="en-US" sz="1700" dirty="0">
                <a:solidFill>
                  <a:srgbClr val="FFFFFF"/>
                </a:solidFill>
                <a:latin typeface="Noto Sans" pitchFamily="34" charset="0"/>
                <a:ea typeface="Noto Sans" pitchFamily="34" charset="-122"/>
                <a:cs typeface="Noto Sans" pitchFamily="34" charset="-120"/>
              </a:rPr>
              <a:t>Live AI and public URLs</a:t>
            </a:r>
            <a:endParaRPr lang="en-US" sz="1700" dirty="0"/>
          </a:p>
          <a:p>
            <a:pPr indent="0" marL="0">
              <a:lnSpc>
                <a:spcPts val="1955"/>
              </a:lnSpc>
              <a:buNone/>
            </a:pPr>
            <a:r>
              <a:rPr lang="en-US" sz="1700" dirty="0">
                <a:solidFill>
                  <a:srgbClr val="FFFFFF"/>
                </a:solidFill>
                <a:latin typeface="Noto Sans" pitchFamily="34" charset="0"/>
                <a:ea typeface="Noto Sans" pitchFamily="34" charset="-122"/>
                <a:cs typeface="Noto Sans" pitchFamily="34" charset="-120"/>
              </a:rPr>
              <a:t>Replace draft with findings</a:t>
            </a:r>
            <a:endParaRPr lang="en-US" sz="1700" dirty="0"/>
          </a:p>
        </p:txBody>
      </p:sp>
      <p:sp>
        <p:nvSpPr>
          <p:cNvPr id="24" name="Text 22"/>
          <p:cNvSpPr/>
          <p:nvPr/>
        </p:nvSpPr>
        <p:spPr>
          <a:xfrm>
            <a:off x="6793992" y="5404104"/>
            <a:ext cx="4608576" cy="246888"/>
          </a:xfrm>
          <a:prstGeom prst="rect">
            <a:avLst/>
          </a:prstGeom>
          <a:noFill/>
          <a:ln/>
        </p:spPr>
        <p:txBody>
          <a:bodyPr wrap="square" lIns="0" tIns="0" rIns="0" bIns="0" rtlCol="0" anchor="t"/>
          <a:lstStyle/>
          <a:p>
            <a:pPr indent="0" marL="0">
              <a:lnSpc>
                <a:spcPts val="1725"/>
              </a:lnSpc>
              <a:buNone/>
            </a:pPr>
            <a:r>
              <a:rPr lang="en-US" sz="1500" dirty="0">
                <a:solidFill>
                  <a:srgbClr val="DDE8D8"/>
                </a:solidFill>
                <a:latin typeface="Noto Sans" pitchFamily="34" charset="0"/>
                <a:ea typeface="Noto Sans" pitchFamily="34" charset="-122"/>
                <a:cs typeface="Noto Sans" pitchFamily="34" charset="-120"/>
              </a:rPr>
              <a:t>Public URLs are intentionally not invented.</a:t>
            </a:r>
            <a:endParaRPr lang="en-US" sz="1500" dirty="0"/>
          </a:p>
        </p:txBody>
      </p:sp>
      <p:sp>
        <p:nvSpPr>
          <p:cNvPr id="25" name="Text 23"/>
          <p:cNvSpPr/>
          <p:nvPr/>
        </p:nvSpPr>
        <p:spPr>
          <a:xfrm>
            <a:off x="749808" y="6025896"/>
            <a:ext cx="10698480" cy="246888"/>
          </a:xfrm>
          <a:prstGeom prst="rect">
            <a:avLst/>
          </a:prstGeom>
          <a:noFill/>
          <a:ln/>
        </p:spPr>
        <p:txBody>
          <a:bodyPr wrap="square" lIns="0" tIns="0" rIns="0" bIns="0" rtlCol="0" anchor="t"/>
          <a:lstStyle/>
          <a:p>
            <a:pPr indent="0" marL="0">
              <a:lnSpc>
                <a:spcPts val="1725"/>
              </a:lnSpc>
              <a:buNone/>
            </a:pPr>
            <a:r>
              <a:rPr lang="en-US" sz="1500" dirty="0">
                <a:solidFill>
                  <a:srgbClr val="65716A"/>
                </a:solidFill>
                <a:latin typeface="Noto Sans" pitchFamily="34" charset="0"/>
                <a:ea typeface="Noto Sans" pitchFamily="34" charset="-122"/>
                <a:cs typeface="Noto Sans" pitchFamily="34" charset="-120"/>
              </a:rPr>
              <a:t>Brief deadline shown: 7 October 2026, 4:00 PM Asia/Calcutta. Verify the portal before submitting.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MemoryTrail | Google Photos</dc:title>
  <dc:subject>Google Photos partial-memory retrieval — research draft</dc:subject>
  <dc:creator>Product Research</dc:creator>
  <cp:lastModifiedBy>Product Research</cp:lastModifiedBy>
  <cp:revision>1</cp:revision>
  <dcterms:created xsi:type="dcterms:W3CDTF">2026-09-21T16:14:51Z</dcterms:created>
  <dcterms:modified xsi:type="dcterms:W3CDTF">2026-09-21T16:14:51Z</dcterms:modified>
</cp:coreProperties>
</file>